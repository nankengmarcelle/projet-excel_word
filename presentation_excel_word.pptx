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A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063240"/>
            <a:ext cx="5943600" cy="54864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SOLUTION DE CONVERSION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418BFF"/>
                </a:solidFill>
                <a:latin typeface="Calibri"/>
              </a:rPr>
              <a:t>Excel  →  Word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0F4FF"/>
                </a:solidFill>
                <a:latin typeface="Calibri"/>
              </a:rPr>
              <a:t>Application Sécurisée avec Étude Comparative — Contexte Entreprise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AACC"/>
                </a:solidFill>
                <a:latin typeface="Calibri"/>
              </a:rPr>
              <a:t>Cahier des charges consolidé  |  Août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SOMMAIRE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5303520" cy="822960"/>
          </a:xfrm>
          <a:prstGeom prst="rect">
            <a:avLst/>
          </a:prstGeom>
          <a:solidFill>
            <a:srgbClr val="1A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64207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6B2B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737360"/>
            <a:ext cx="44805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Contexte &amp; Problématique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1554480"/>
            <a:ext cx="5303520" cy="822960"/>
          </a:xfrm>
          <a:prstGeom prst="rect">
            <a:avLst/>
          </a:prstGeom>
          <a:solidFill>
            <a:srgbClr val="1A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1664207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6B2B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1737360"/>
            <a:ext cx="44805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Objectifs du projet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926080"/>
            <a:ext cx="5303520" cy="822960"/>
          </a:xfrm>
          <a:prstGeom prst="rect">
            <a:avLst/>
          </a:prstGeom>
          <a:solidFill>
            <a:srgbClr val="1A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03580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6B2B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108960"/>
            <a:ext cx="44805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Étude Comparative de l'Existant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2926080"/>
            <a:ext cx="5303520" cy="822960"/>
          </a:xfrm>
          <a:prstGeom prst="rect">
            <a:avLst/>
          </a:prstGeom>
          <a:solidFill>
            <a:srgbClr val="1A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303580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6B2B"/>
                </a:solidFill>
                <a:latin typeface="Calibr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3108960"/>
            <a:ext cx="44805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Architecture &amp; Décision de Stack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297680"/>
            <a:ext cx="5303520" cy="822960"/>
          </a:xfrm>
          <a:prstGeom prst="rect">
            <a:avLst/>
          </a:prstGeom>
          <a:solidFill>
            <a:srgbClr val="1A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40740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6B2B"/>
                </a:solidFill>
                <a:latin typeface="Calibr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480560"/>
            <a:ext cx="44805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Sécurité (Bulletin)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4297680"/>
            <a:ext cx="5303520" cy="822960"/>
          </a:xfrm>
          <a:prstGeom prst="rect">
            <a:avLst/>
          </a:prstGeom>
          <a:solidFill>
            <a:srgbClr val="1A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440740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6B2B"/>
                </a:solidFill>
                <a:latin typeface="Calibri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4480560"/>
            <a:ext cx="44805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Livrables &amp; Critères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01  |  CONTEXTE &amp; PROBLÉMATIQUE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0972800" cy="1097280"/>
          </a:xfrm>
          <a:prstGeom prst="rect">
            <a:avLst/>
          </a:prstGeom>
          <a:solidFill>
            <a:srgbClr val="2C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91440" cy="109728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18BFF"/>
                </a:solidFill>
                <a:latin typeface="Calibri"/>
              </a:rPr>
              <a:t>Le Défi Actuel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Les collaborateurs copient-collent manuellement des données Excel vers Word. Processus inefficace, lent et source d'erreurs majeures.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34640"/>
            <a:ext cx="10972800" cy="1097280"/>
          </a:xfrm>
          <a:prstGeom prst="rect">
            <a:avLst/>
          </a:prstGeom>
          <a:solidFill>
            <a:srgbClr val="2C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834640"/>
            <a:ext cx="91440" cy="109728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18BFF"/>
                </a:solidFill>
                <a:latin typeface="Calibri"/>
              </a:rPr>
              <a:t>L'Exigence Métier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Générer un formatage professionnel propre, de manière logicielle, avec des tableaux Word natifs reprenant les données de chaque feuille Excel.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206240"/>
            <a:ext cx="10972800" cy="1097280"/>
          </a:xfrm>
          <a:prstGeom prst="rect">
            <a:avLst/>
          </a:prstGeom>
          <a:solidFill>
            <a:srgbClr val="2C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206240"/>
            <a:ext cx="91440" cy="109728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9767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18BFF"/>
                </a:solidFill>
                <a:latin typeface="Calibri"/>
              </a:rPr>
              <a:t>L'Enjeu Majeur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Sécurité totale des données. Interdiction stricte de laisser fuiter des fichiers d'entreprise sur internet.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03  |  ÉTUDE COMPARATIVE DE L'EXISTANT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6B2B"/>
                </a:solidFill>
                <a:latin typeface="Calibri"/>
              </a:rPr>
              <a:t>Outils Cloud Publics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280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6B2B"/>
                </a:solidFill>
                <a:latin typeface="Calibri"/>
              </a:rPr>
              <a:t>Macros Locales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280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6B2B"/>
                </a:solidFill>
                <a:latin typeface="Calibri"/>
              </a:rPr>
              <a:t>Notre Proposition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3474720" cy="4389120"/>
          </a:xfrm>
          <a:prstGeom prst="rect">
            <a:avLst/>
          </a:prstGeom>
          <a:solidFill>
            <a:srgbClr val="2C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464"/>
                </a:solidFill>
                <a:latin typeface="Calibri"/>
              </a:rPr>
              <a:t>❌ DANGER SÉCURITÉ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F"/>
                </a:solidFill>
                <a:latin typeface="Calibri"/>
              </a:rPr>
              <a:t>Les données uploadées sur Zamzar ou ILovePDF sont hors de contrôle.
Violations RGPD majeures.
Format de sortie pauvre.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828800"/>
            <a:ext cx="3474720" cy="4389120"/>
          </a:xfrm>
          <a:prstGeom prst="rect">
            <a:avLst/>
          </a:prstGeom>
          <a:solidFill>
            <a:srgbClr val="2C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464"/>
                </a:solidFill>
                <a:latin typeface="Calibri"/>
              </a:rPr>
              <a:t>❌ MAINTENANCE ARDUE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56032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F"/>
                </a:solidFill>
                <a:latin typeface="Calibri"/>
              </a:rPr>
              <a:t>Les macros VBA ou scripts locaux cassent fréquemment.
Aucune traçabilité des exécutions.
Dépendance à MS Office installé localement.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828800"/>
            <a:ext cx="3474720" cy="4389120"/>
          </a:xfrm>
          <a:prstGeom prst="rect">
            <a:avLst/>
          </a:prstGeom>
          <a:solidFill>
            <a:srgbClr val="1A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4FF64"/>
                </a:solidFill>
                <a:latin typeface="Calibri"/>
              </a:rPr>
              <a:t>✅ SOUVERAIN &amp; FIABLE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56032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Application interne sécurisée.
Authentification/Traçabilité complètes.
Transformation en Word natif robuste sans dépendre d'Office.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04  |  DÉCISION DE LA STACK TECHNIQUE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5486400" cy="5029200"/>
          </a:xfrm>
          <a:prstGeom prst="rect">
            <a:avLst/>
          </a:prstGeom>
          <a:solidFill>
            <a:srgbClr val="2C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18BFF"/>
                </a:solidFill>
                <a:latin typeface="Calibri"/>
              </a:rPr>
              <a:t>BACKEND: Java Spring Boot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2B"/>
                </a:solidFill>
                <a:latin typeface="Calibri"/>
              </a:rPr>
              <a:t>Pourquoi pas Node.js / Python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F"/>
                </a:solidFill>
                <a:latin typeface="Calibri"/>
              </a:rPr>
              <a:t>Python nécessite l'exposition d'un micro-serveur type FastAPI moins natif en entreprise. L'écosystème JS peut être limité pour des manipulations bureautiques très lourdes en RAM.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2B"/>
                </a:solidFill>
                <a:latin typeface="Calibri"/>
              </a:rPr>
              <a:t>Pourquoi Java Spring Boot / POI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F"/>
                </a:solidFill>
                <a:latin typeface="Calibri"/>
              </a:rPr>
              <a:t>La robustesse de Spring Security et l'absolue supériorité d'Apache POI pour générer du document Office natif avec une consommation mémoire maitrisée, font de Java la solution idéale.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80160"/>
            <a:ext cx="5486400" cy="5029200"/>
          </a:xfrm>
          <a:prstGeom prst="rect">
            <a:avLst/>
          </a:prstGeom>
          <a:solidFill>
            <a:srgbClr val="2C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63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18BFF"/>
                </a:solidFill>
                <a:latin typeface="Calibri"/>
              </a:rPr>
              <a:t>FRONTEND: React + Vite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2B"/>
                </a:solidFill>
                <a:latin typeface="Calibri"/>
              </a:rPr>
              <a:t>Pourquoi pas Angular ou HTML natif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46888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F"/>
                </a:solidFill>
                <a:latin typeface="Calibri"/>
              </a:rPr>
              <a:t>Angular est surdimensionné pour 3 simples pages d'upload. Une architecture sans framework rend la gestion des intercepteurs JWT et le glisser-déposer difficiles à structurer.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657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2B"/>
                </a:solidFill>
                <a:latin typeface="Calibri"/>
              </a:rPr>
              <a:t>Pourquoi React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0233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F"/>
                </a:solidFill>
                <a:latin typeface="Calibri"/>
              </a:rPr>
              <a:t>C'est la balance parfaite : modernité des composants (glisser-déposer), légèreté (Vite), fluidité pour les collaborateurs et écosystème massivement supporté.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05  |  SÉCURITÉ (CONFORMITÉ ENTREPRISE)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1554480"/>
            <a:ext cx="8503920" cy="1371600"/>
          </a:xfrm>
          <a:prstGeom prst="rect">
            <a:avLst/>
          </a:prstGeom>
          <a:solidFill>
            <a:srgbClr val="2C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1554480"/>
            <a:ext cx="91440" cy="13716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1737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18BFF"/>
                </a:solidFill>
                <a:latin typeface="Calibri"/>
              </a:rPr>
              <a:t>Traçabilité (Audit)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1945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Log de chaque tentative de conversion avec hash SHA-256 du fichier, ID utilisateur et horodatage dans la BDD PostgreSQL.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3200400"/>
            <a:ext cx="8503920" cy="1371600"/>
          </a:xfrm>
          <a:prstGeom prst="rect">
            <a:avLst/>
          </a:prstGeom>
          <a:solidFill>
            <a:srgbClr val="2C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0" y="3200400"/>
            <a:ext cx="91440" cy="13716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3383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18BFF"/>
                </a:solidFill>
                <a:latin typeface="Calibri"/>
              </a:rPr>
              <a:t>Nettoyage Automatique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8404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Isolation des fichiers en RAM ou dossier temporaire hors Webroot. Destruction sous 5 minutes. Aucune rémanence.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4846320"/>
            <a:ext cx="8503920" cy="1371600"/>
          </a:xfrm>
          <a:prstGeom prst="rect">
            <a:avLst/>
          </a:prstGeom>
          <a:solidFill>
            <a:srgbClr val="2C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0" y="4846320"/>
            <a:ext cx="91440" cy="13716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0" y="5029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18BFF"/>
                </a:solidFill>
                <a:latin typeface="Calibri"/>
              </a:rPr>
              <a:t>Authentification (JWT)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5486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Connexion requise via token stocké en cookie sécurisé (HttpOnly). Rate-limiting strict à 10 actions/minutes.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