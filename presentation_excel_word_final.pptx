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C3194"/>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0"/>
            <a:ext cx="11825935" cy="91440"/>
          </a:xfrm>
          <a:prstGeom prst="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515600" cy="548640"/>
          </a:xfrm>
          <a:prstGeom prst="rect">
            <a:avLst/>
          </a:prstGeom>
          <a:noFill/>
        </p:spPr>
        <p:txBody>
          <a:bodyPr wrap="none">
            <a:spAutoFit/>
          </a:bodyPr>
          <a:lstStyle/>
          <a:p>
            <a:r>
              <a:rPr sz="1500" b="1">
                <a:solidFill>
                  <a:srgbClr val="7C5DD4"/>
                </a:solidFill>
              </a:rPr>
              <a:t>AGENCE NATIONALE DES TECHNOLOGIES DE L'INFORMATION ET DE LA COMMUNICATION</a:t>
            </a:r>
          </a:p>
        </p:txBody>
      </p:sp>
      <p:sp>
        <p:nvSpPr>
          <p:cNvPr id="5" name="TextBox 4"/>
          <p:cNvSpPr txBox="1"/>
          <p:nvPr/>
        </p:nvSpPr>
        <p:spPr>
          <a:xfrm>
            <a:off x="731520" y="1097280"/>
            <a:ext cx="10515600" cy="365760"/>
          </a:xfrm>
          <a:prstGeom prst="rect">
            <a:avLst/>
          </a:prstGeom>
          <a:noFill/>
        </p:spPr>
        <p:txBody>
          <a:bodyPr wrap="none">
            <a:spAutoFit/>
          </a:bodyPr>
          <a:lstStyle/>
          <a:p>
            <a:r>
              <a:rPr sz="1400">
                <a:solidFill>
                  <a:srgbClr val="FFFFFF"/>
                </a:solidFill>
              </a:rPr>
              <a:t>École Nationale Supérieure Polytechnique de Yaoundé (ENSPY)</a:t>
            </a:r>
          </a:p>
        </p:txBody>
      </p:sp>
      <p:sp>
        <p:nvSpPr>
          <p:cNvPr id="6" name="TextBox 5"/>
          <p:cNvSpPr txBox="1"/>
          <p:nvPr/>
        </p:nvSpPr>
        <p:spPr>
          <a:xfrm>
            <a:off x="731520" y="2011680"/>
            <a:ext cx="10515600" cy="1188720"/>
          </a:xfrm>
          <a:prstGeom prst="rect">
            <a:avLst/>
          </a:prstGeom>
          <a:noFill/>
        </p:spPr>
        <p:txBody>
          <a:bodyPr wrap="none">
            <a:spAutoFit/>
          </a:bodyPr>
          <a:lstStyle/>
          <a:p>
            <a:r>
              <a:rPr sz="3000" b="1">
                <a:solidFill>
                  <a:srgbClr val="FFFFFF"/>
                </a:solidFill>
              </a:rPr>
              <a:t>PRÉSENTATION DU PROJET :
CONVERSION SÉCURISÉE EXCEL VERS WORD</a:t>
            </a:r>
          </a:p>
        </p:txBody>
      </p:sp>
      <p:sp>
        <p:nvSpPr>
          <p:cNvPr id="7" name="TextBox 6"/>
          <p:cNvSpPr txBox="1"/>
          <p:nvPr/>
        </p:nvSpPr>
        <p:spPr>
          <a:xfrm>
            <a:off x="731520" y="3291840"/>
            <a:ext cx="10515600" cy="548640"/>
          </a:xfrm>
          <a:prstGeom prst="rect">
            <a:avLst/>
          </a:prstGeom>
          <a:noFill/>
        </p:spPr>
        <p:txBody>
          <a:bodyPr wrap="none">
            <a:spAutoFit/>
          </a:bodyPr>
          <a:lstStyle/>
          <a:p>
            <a:r>
              <a:rPr sz="1800">
                <a:solidFill>
                  <a:srgbClr val="7C5DD4"/>
                </a:solidFill>
              </a:rPr>
              <a:t>Plateforme Web Souveraine d'Automatisation Documentaire pour l'ANTIC</a:t>
            </a:r>
          </a:p>
        </p:txBody>
      </p:sp>
      <p:sp>
        <p:nvSpPr>
          <p:cNvPr id="8" name="Rounded Rectangle 7"/>
          <p:cNvSpPr/>
          <p:nvPr/>
        </p:nvSpPr>
        <p:spPr>
          <a:xfrm>
            <a:off x="731520" y="4389120"/>
            <a:ext cx="10698480" cy="1645920"/>
          </a:xfrm>
          <a:prstGeom prst="roundRect">
            <a:avLst/>
          </a:prstGeom>
          <a:solidFill>
            <a:srgbClr val="37236E"/>
          </a:solidFill>
          <a:ln w="19050">
            <a:solidFill>
              <a:srgbClr val="7C5D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663440"/>
            <a:ext cx="10149840" cy="1188720"/>
          </a:xfrm>
          <a:prstGeom prst="rect">
            <a:avLst/>
          </a:prstGeom>
          <a:noFill/>
        </p:spPr>
        <p:txBody>
          <a:bodyPr wrap="square">
            <a:spAutoFit/>
          </a:bodyPr>
          <a:lstStyle/>
          <a:p>
            <a:r>
              <a:rPr sz="1800" b="1">
                <a:solidFill>
                  <a:srgbClr val="FFFFFF"/>
                </a:solidFill>
              </a:rPr>
              <a:t>Soutenance &amp; Spécifications du Projet de Fin d'Études / Solution d'Entreprise</a:t>
            </a:r>
          </a:p>
          <a:p>
            <a:pPr>
              <a:spcBef>
                <a:spcPts val="600"/>
              </a:spcBef>
            </a:pPr>
            <a:r>
              <a:rPr sz="1400">
                <a:solidFill>
                  <a:srgbClr val="C8BEF0"/>
                </a:solidFill>
              </a:rPr>
              <a:t>Équipe d'Ingénierie Logicielle | Direction Générale de l'ANTIC | Exercice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640080"/>
          </a:xfrm>
          <a:prstGeom prst="rect">
            <a:avLst/>
          </a:prstGeom>
          <a:noFill/>
        </p:spPr>
        <p:txBody>
          <a:bodyPr wrap="none">
            <a:spAutoFit/>
          </a:bodyPr>
          <a:lstStyle/>
          <a:p>
            <a:r>
              <a:rPr sz="2800" b="1">
                <a:solidFill>
                  <a:srgbClr val="FFFFFF"/>
                </a:solidFill>
              </a:rPr>
              <a:t>SOMMAIRE</a:t>
            </a:r>
          </a:p>
        </p:txBody>
      </p:sp>
      <p:sp>
        <p:nvSpPr>
          <p:cNvPr id="4" name="Rectangle 3"/>
          <p:cNvSpPr/>
          <p:nvPr/>
        </p:nvSpPr>
        <p:spPr>
          <a:xfrm>
            <a:off x="731520" y="1280160"/>
            <a:ext cx="6858000" cy="438912"/>
          </a:xfrm>
          <a:prstGeom prst="rect">
            <a:avLst/>
          </a:prstGeom>
          <a:solidFill>
            <a:srgbClr val="F5F3FF"/>
          </a:solidFill>
          <a:ln w="1270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25880"/>
            <a:ext cx="5486400" cy="365760"/>
          </a:xfrm>
          <a:prstGeom prst="rect">
            <a:avLst/>
          </a:prstGeom>
          <a:noFill/>
        </p:spPr>
        <p:txBody>
          <a:bodyPr wrap="none">
            <a:spAutoFit/>
          </a:bodyPr>
          <a:lstStyle/>
          <a:p>
            <a:r>
              <a:rPr sz="1500">
                <a:solidFill>
                  <a:srgbClr val="28283C"/>
                </a:solidFill>
              </a:rPr>
              <a:t>Introduction</a:t>
            </a:r>
          </a:p>
        </p:txBody>
      </p:sp>
      <p:sp>
        <p:nvSpPr>
          <p:cNvPr id="6" name="TextBox 5"/>
          <p:cNvSpPr txBox="1"/>
          <p:nvPr/>
        </p:nvSpPr>
        <p:spPr>
          <a:xfrm>
            <a:off x="6583680" y="1325880"/>
            <a:ext cx="822960" cy="365760"/>
          </a:xfrm>
          <a:prstGeom prst="rect">
            <a:avLst/>
          </a:prstGeom>
          <a:noFill/>
        </p:spPr>
        <p:txBody>
          <a:bodyPr wrap="none">
            <a:spAutoFit/>
          </a:bodyPr>
          <a:lstStyle/>
          <a:p>
            <a:pPr algn="r"/>
            <a:r>
              <a:rPr sz="1600" b="1">
                <a:solidFill>
                  <a:srgbClr val="7C5DD4"/>
                </a:solidFill>
              </a:rPr>
              <a:t>01</a:t>
            </a:r>
          </a:p>
        </p:txBody>
      </p:sp>
      <p:sp>
        <p:nvSpPr>
          <p:cNvPr id="7" name="Rectangle 6"/>
          <p:cNvSpPr/>
          <p:nvPr/>
        </p:nvSpPr>
        <p:spPr>
          <a:xfrm>
            <a:off x="731520" y="1783080"/>
            <a:ext cx="6858000" cy="438912"/>
          </a:xfrm>
          <a:prstGeom prst="rect">
            <a:avLst/>
          </a:prstGeom>
          <a:solidFill>
            <a:srgbClr val="FFFFFF"/>
          </a:solidFill>
          <a:ln w="1270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5486400" cy="365760"/>
          </a:xfrm>
          <a:prstGeom prst="rect">
            <a:avLst/>
          </a:prstGeom>
          <a:noFill/>
        </p:spPr>
        <p:txBody>
          <a:bodyPr wrap="none">
            <a:spAutoFit/>
          </a:bodyPr>
          <a:lstStyle/>
          <a:p>
            <a:r>
              <a:rPr sz="1500">
                <a:solidFill>
                  <a:srgbClr val="28283C"/>
                </a:solidFill>
              </a:rPr>
              <a:t>Contexte</a:t>
            </a:r>
          </a:p>
        </p:txBody>
      </p:sp>
      <p:sp>
        <p:nvSpPr>
          <p:cNvPr id="9" name="TextBox 8"/>
          <p:cNvSpPr txBox="1"/>
          <p:nvPr/>
        </p:nvSpPr>
        <p:spPr>
          <a:xfrm>
            <a:off x="6583680" y="1828800"/>
            <a:ext cx="822960" cy="365760"/>
          </a:xfrm>
          <a:prstGeom prst="rect">
            <a:avLst/>
          </a:prstGeom>
          <a:noFill/>
        </p:spPr>
        <p:txBody>
          <a:bodyPr wrap="none">
            <a:spAutoFit/>
          </a:bodyPr>
          <a:lstStyle/>
          <a:p>
            <a:pPr algn="r"/>
            <a:r>
              <a:rPr sz="1600" b="1">
                <a:solidFill>
                  <a:srgbClr val="7C5DD4"/>
                </a:solidFill>
              </a:rPr>
              <a:t>02</a:t>
            </a:r>
          </a:p>
        </p:txBody>
      </p:sp>
      <p:sp>
        <p:nvSpPr>
          <p:cNvPr id="10" name="Rectangle 9"/>
          <p:cNvSpPr/>
          <p:nvPr/>
        </p:nvSpPr>
        <p:spPr>
          <a:xfrm>
            <a:off x="731520" y="2286000"/>
            <a:ext cx="6858000" cy="438912"/>
          </a:xfrm>
          <a:prstGeom prst="rect">
            <a:avLst/>
          </a:prstGeom>
          <a:solidFill>
            <a:srgbClr val="F5F3FF"/>
          </a:solidFill>
          <a:ln w="1270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331720"/>
            <a:ext cx="5486400" cy="365760"/>
          </a:xfrm>
          <a:prstGeom prst="rect">
            <a:avLst/>
          </a:prstGeom>
          <a:noFill/>
        </p:spPr>
        <p:txBody>
          <a:bodyPr wrap="none">
            <a:spAutoFit/>
          </a:bodyPr>
          <a:lstStyle/>
          <a:p>
            <a:r>
              <a:rPr sz="1500">
                <a:solidFill>
                  <a:srgbClr val="28283C"/>
                </a:solidFill>
              </a:rPr>
              <a:t>Problème &amp; Problématique</a:t>
            </a:r>
          </a:p>
        </p:txBody>
      </p:sp>
      <p:sp>
        <p:nvSpPr>
          <p:cNvPr id="12" name="TextBox 11"/>
          <p:cNvSpPr txBox="1"/>
          <p:nvPr/>
        </p:nvSpPr>
        <p:spPr>
          <a:xfrm>
            <a:off x="6583680" y="2331720"/>
            <a:ext cx="822960" cy="365760"/>
          </a:xfrm>
          <a:prstGeom prst="rect">
            <a:avLst/>
          </a:prstGeom>
          <a:noFill/>
        </p:spPr>
        <p:txBody>
          <a:bodyPr wrap="none">
            <a:spAutoFit/>
          </a:bodyPr>
          <a:lstStyle/>
          <a:p>
            <a:pPr algn="r"/>
            <a:r>
              <a:rPr sz="1600" b="1">
                <a:solidFill>
                  <a:srgbClr val="7C5DD4"/>
                </a:solidFill>
              </a:rPr>
              <a:t>03</a:t>
            </a:r>
          </a:p>
        </p:txBody>
      </p:sp>
      <p:sp>
        <p:nvSpPr>
          <p:cNvPr id="13" name="Rectangle 12"/>
          <p:cNvSpPr/>
          <p:nvPr/>
        </p:nvSpPr>
        <p:spPr>
          <a:xfrm>
            <a:off x="731520" y="2788920"/>
            <a:ext cx="6858000" cy="438912"/>
          </a:xfrm>
          <a:prstGeom prst="rect">
            <a:avLst/>
          </a:prstGeom>
          <a:solidFill>
            <a:srgbClr val="FFFFFF"/>
          </a:solidFill>
          <a:ln w="1270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834639"/>
            <a:ext cx="5486400" cy="365760"/>
          </a:xfrm>
          <a:prstGeom prst="rect">
            <a:avLst/>
          </a:prstGeom>
          <a:noFill/>
        </p:spPr>
        <p:txBody>
          <a:bodyPr wrap="none">
            <a:spAutoFit/>
          </a:bodyPr>
          <a:lstStyle/>
          <a:p>
            <a:r>
              <a:rPr sz="1500">
                <a:solidFill>
                  <a:srgbClr val="28283C"/>
                </a:solidFill>
              </a:rPr>
              <a:t>Présentation de l'existant</a:t>
            </a:r>
          </a:p>
        </p:txBody>
      </p:sp>
      <p:sp>
        <p:nvSpPr>
          <p:cNvPr id="15" name="TextBox 14"/>
          <p:cNvSpPr txBox="1"/>
          <p:nvPr/>
        </p:nvSpPr>
        <p:spPr>
          <a:xfrm>
            <a:off x="6583680" y="2834639"/>
            <a:ext cx="822960" cy="365760"/>
          </a:xfrm>
          <a:prstGeom prst="rect">
            <a:avLst/>
          </a:prstGeom>
          <a:noFill/>
        </p:spPr>
        <p:txBody>
          <a:bodyPr wrap="none">
            <a:spAutoFit/>
          </a:bodyPr>
          <a:lstStyle/>
          <a:p>
            <a:pPr algn="r"/>
            <a:r>
              <a:rPr sz="1600" b="1">
                <a:solidFill>
                  <a:srgbClr val="7C5DD4"/>
                </a:solidFill>
              </a:rPr>
              <a:t>04</a:t>
            </a:r>
          </a:p>
        </p:txBody>
      </p:sp>
      <p:sp>
        <p:nvSpPr>
          <p:cNvPr id="16" name="Rectangle 15"/>
          <p:cNvSpPr/>
          <p:nvPr/>
        </p:nvSpPr>
        <p:spPr>
          <a:xfrm>
            <a:off x="731520" y="3291840"/>
            <a:ext cx="6858000" cy="438912"/>
          </a:xfrm>
          <a:prstGeom prst="rect">
            <a:avLst/>
          </a:prstGeom>
          <a:solidFill>
            <a:srgbClr val="F5F3FF"/>
          </a:solidFill>
          <a:ln w="1270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337560"/>
            <a:ext cx="5486400" cy="365760"/>
          </a:xfrm>
          <a:prstGeom prst="rect">
            <a:avLst/>
          </a:prstGeom>
          <a:noFill/>
        </p:spPr>
        <p:txBody>
          <a:bodyPr wrap="none">
            <a:spAutoFit/>
          </a:bodyPr>
          <a:lstStyle/>
          <a:p>
            <a:r>
              <a:rPr sz="1500">
                <a:solidFill>
                  <a:srgbClr val="28283C"/>
                </a:solidFill>
              </a:rPr>
              <a:t>Limite du projet</a:t>
            </a:r>
          </a:p>
        </p:txBody>
      </p:sp>
      <p:sp>
        <p:nvSpPr>
          <p:cNvPr id="18" name="TextBox 17"/>
          <p:cNvSpPr txBox="1"/>
          <p:nvPr/>
        </p:nvSpPr>
        <p:spPr>
          <a:xfrm>
            <a:off x="6583680" y="3337560"/>
            <a:ext cx="822960" cy="365760"/>
          </a:xfrm>
          <a:prstGeom prst="rect">
            <a:avLst/>
          </a:prstGeom>
          <a:noFill/>
        </p:spPr>
        <p:txBody>
          <a:bodyPr wrap="none">
            <a:spAutoFit/>
          </a:bodyPr>
          <a:lstStyle/>
          <a:p>
            <a:pPr algn="r"/>
            <a:r>
              <a:rPr sz="1600" b="1">
                <a:solidFill>
                  <a:srgbClr val="7C5DD4"/>
                </a:solidFill>
              </a:rPr>
              <a:t>05</a:t>
            </a:r>
          </a:p>
        </p:txBody>
      </p:sp>
      <p:sp>
        <p:nvSpPr>
          <p:cNvPr id="19" name="Rectangle 18"/>
          <p:cNvSpPr/>
          <p:nvPr/>
        </p:nvSpPr>
        <p:spPr>
          <a:xfrm>
            <a:off x="731520" y="3794760"/>
            <a:ext cx="6858000" cy="438912"/>
          </a:xfrm>
          <a:prstGeom prst="rect">
            <a:avLst/>
          </a:prstGeom>
          <a:solidFill>
            <a:srgbClr val="FFFFFF"/>
          </a:solidFill>
          <a:ln w="1270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840480"/>
            <a:ext cx="5486400" cy="365760"/>
          </a:xfrm>
          <a:prstGeom prst="rect">
            <a:avLst/>
          </a:prstGeom>
          <a:noFill/>
        </p:spPr>
        <p:txBody>
          <a:bodyPr wrap="none">
            <a:spAutoFit/>
          </a:bodyPr>
          <a:lstStyle/>
          <a:p>
            <a:r>
              <a:rPr sz="1500">
                <a:solidFill>
                  <a:srgbClr val="28283C"/>
                </a:solidFill>
              </a:rPr>
              <a:t>Description de la solution</a:t>
            </a:r>
          </a:p>
        </p:txBody>
      </p:sp>
      <p:sp>
        <p:nvSpPr>
          <p:cNvPr id="21" name="TextBox 20"/>
          <p:cNvSpPr txBox="1"/>
          <p:nvPr/>
        </p:nvSpPr>
        <p:spPr>
          <a:xfrm>
            <a:off x="6583680" y="3840480"/>
            <a:ext cx="822960" cy="365760"/>
          </a:xfrm>
          <a:prstGeom prst="rect">
            <a:avLst/>
          </a:prstGeom>
          <a:noFill/>
        </p:spPr>
        <p:txBody>
          <a:bodyPr wrap="none">
            <a:spAutoFit/>
          </a:bodyPr>
          <a:lstStyle/>
          <a:p>
            <a:pPr algn="r"/>
            <a:r>
              <a:rPr sz="1600" b="1">
                <a:solidFill>
                  <a:srgbClr val="7C5DD4"/>
                </a:solidFill>
              </a:rPr>
              <a:t>06</a:t>
            </a:r>
          </a:p>
        </p:txBody>
      </p:sp>
      <p:sp>
        <p:nvSpPr>
          <p:cNvPr id="22" name="Rectangle 21"/>
          <p:cNvSpPr/>
          <p:nvPr/>
        </p:nvSpPr>
        <p:spPr>
          <a:xfrm>
            <a:off x="731520" y="4297680"/>
            <a:ext cx="6858000" cy="438912"/>
          </a:xfrm>
          <a:prstGeom prst="rect">
            <a:avLst/>
          </a:prstGeom>
          <a:solidFill>
            <a:srgbClr val="F5F3FF"/>
          </a:solidFill>
          <a:ln w="1270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343400"/>
            <a:ext cx="5486400" cy="365760"/>
          </a:xfrm>
          <a:prstGeom prst="rect">
            <a:avLst/>
          </a:prstGeom>
          <a:noFill/>
        </p:spPr>
        <p:txBody>
          <a:bodyPr wrap="none">
            <a:spAutoFit/>
          </a:bodyPr>
          <a:lstStyle/>
          <a:p>
            <a:r>
              <a:rPr sz="1500">
                <a:solidFill>
                  <a:srgbClr val="28283C"/>
                </a:solidFill>
              </a:rPr>
              <a:t>Choix technologiques retenus</a:t>
            </a:r>
          </a:p>
        </p:txBody>
      </p:sp>
      <p:sp>
        <p:nvSpPr>
          <p:cNvPr id="24" name="TextBox 23"/>
          <p:cNvSpPr txBox="1"/>
          <p:nvPr/>
        </p:nvSpPr>
        <p:spPr>
          <a:xfrm>
            <a:off x="6583680" y="4343400"/>
            <a:ext cx="822960" cy="365760"/>
          </a:xfrm>
          <a:prstGeom prst="rect">
            <a:avLst/>
          </a:prstGeom>
          <a:noFill/>
        </p:spPr>
        <p:txBody>
          <a:bodyPr wrap="none">
            <a:spAutoFit/>
          </a:bodyPr>
          <a:lstStyle/>
          <a:p>
            <a:pPr algn="r"/>
            <a:r>
              <a:rPr sz="1600" b="1">
                <a:solidFill>
                  <a:srgbClr val="7C5DD4"/>
                </a:solidFill>
              </a:rPr>
              <a:t>07</a:t>
            </a:r>
          </a:p>
        </p:txBody>
      </p:sp>
      <p:sp>
        <p:nvSpPr>
          <p:cNvPr id="25" name="Rectangle 24"/>
          <p:cNvSpPr/>
          <p:nvPr/>
        </p:nvSpPr>
        <p:spPr>
          <a:xfrm>
            <a:off x="731520" y="4800600"/>
            <a:ext cx="6858000" cy="438912"/>
          </a:xfrm>
          <a:prstGeom prst="rect">
            <a:avLst/>
          </a:prstGeom>
          <a:solidFill>
            <a:srgbClr val="FFFFFF"/>
          </a:solidFill>
          <a:ln w="1270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846320"/>
            <a:ext cx="5486400" cy="365760"/>
          </a:xfrm>
          <a:prstGeom prst="rect">
            <a:avLst/>
          </a:prstGeom>
          <a:noFill/>
        </p:spPr>
        <p:txBody>
          <a:bodyPr wrap="none">
            <a:spAutoFit/>
          </a:bodyPr>
          <a:lstStyle/>
          <a:p>
            <a:r>
              <a:rPr sz="1500">
                <a:solidFill>
                  <a:srgbClr val="28283C"/>
                </a:solidFill>
              </a:rPr>
              <a:t>Analyse des technologies</a:t>
            </a:r>
          </a:p>
        </p:txBody>
      </p:sp>
      <p:sp>
        <p:nvSpPr>
          <p:cNvPr id="27" name="TextBox 26"/>
          <p:cNvSpPr txBox="1"/>
          <p:nvPr/>
        </p:nvSpPr>
        <p:spPr>
          <a:xfrm>
            <a:off x="6583680" y="4846320"/>
            <a:ext cx="822960" cy="365760"/>
          </a:xfrm>
          <a:prstGeom prst="rect">
            <a:avLst/>
          </a:prstGeom>
          <a:noFill/>
        </p:spPr>
        <p:txBody>
          <a:bodyPr wrap="none">
            <a:spAutoFit/>
          </a:bodyPr>
          <a:lstStyle/>
          <a:p>
            <a:pPr algn="r"/>
            <a:r>
              <a:rPr sz="1600" b="1">
                <a:solidFill>
                  <a:srgbClr val="7C5DD4"/>
                </a:solidFill>
              </a:rPr>
              <a:t>08</a:t>
            </a:r>
          </a:p>
        </p:txBody>
      </p:sp>
      <p:sp>
        <p:nvSpPr>
          <p:cNvPr id="28" name="Rectangle 27"/>
          <p:cNvSpPr/>
          <p:nvPr/>
        </p:nvSpPr>
        <p:spPr>
          <a:xfrm>
            <a:off x="731520" y="5303520"/>
            <a:ext cx="6858000" cy="438912"/>
          </a:xfrm>
          <a:prstGeom prst="rect">
            <a:avLst/>
          </a:prstGeom>
          <a:solidFill>
            <a:srgbClr val="F5F3FF"/>
          </a:solidFill>
          <a:ln w="1270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349240"/>
            <a:ext cx="5486400" cy="365760"/>
          </a:xfrm>
          <a:prstGeom prst="rect">
            <a:avLst/>
          </a:prstGeom>
          <a:noFill/>
        </p:spPr>
        <p:txBody>
          <a:bodyPr wrap="none">
            <a:spAutoFit/>
          </a:bodyPr>
          <a:lstStyle/>
          <a:p>
            <a:r>
              <a:rPr sz="1500">
                <a:solidFill>
                  <a:srgbClr val="28283C"/>
                </a:solidFill>
              </a:rPr>
              <a:t>Présentation de l'architecture de la solution</a:t>
            </a:r>
          </a:p>
        </p:txBody>
      </p:sp>
      <p:sp>
        <p:nvSpPr>
          <p:cNvPr id="30" name="TextBox 29"/>
          <p:cNvSpPr txBox="1"/>
          <p:nvPr/>
        </p:nvSpPr>
        <p:spPr>
          <a:xfrm>
            <a:off x="6583680" y="5349240"/>
            <a:ext cx="822960" cy="365760"/>
          </a:xfrm>
          <a:prstGeom prst="rect">
            <a:avLst/>
          </a:prstGeom>
          <a:noFill/>
        </p:spPr>
        <p:txBody>
          <a:bodyPr wrap="none">
            <a:spAutoFit/>
          </a:bodyPr>
          <a:lstStyle/>
          <a:p>
            <a:pPr algn="r"/>
            <a:r>
              <a:rPr sz="1600" b="1">
                <a:solidFill>
                  <a:srgbClr val="7C5DD4"/>
                </a:solidFill>
              </a:rPr>
              <a:t>09</a:t>
            </a:r>
          </a:p>
        </p:txBody>
      </p:sp>
      <p:sp>
        <p:nvSpPr>
          <p:cNvPr id="31" name="Rectangle 30"/>
          <p:cNvSpPr/>
          <p:nvPr/>
        </p:nvSpPr>
        <p:spPr>
          <a:xfrm>
            <a:off x="731520" y="5806440"/>
            <a:ext cx="6858000" cy="438912"/>
          </a:xfrm>
          <a:prstGeom prst="rect">
            <a:avLst/>
          </a:prstGeom>
          <a:solidFill>
            <a:srgbClr val="FFFFFF"/>
          </a:solidFill>
          <a:ln w="1270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5852159"/>
            <a:ext cx="5486400" cy="365760"/>
          </a:xfrm>
          <a:prstGeom prst="rect">
            <a:avLst/>
          </a:prstGeom>
          <a:noFill/>
        </p:spPr>
        <p:txBody>
          <a:bodyPr wrap="none">
            <a:spAutoFit/>
          </a:bodyPr>
          <a:lstStyle/>
          <a:p>
            <a:r>
              <a:rPr sz="1500">
                <a:solidFill>
                  <a:srgbClr val="28283C"/>
                </a:solidFill>
              </a:rPr>
              <a:t>Conclusion</a:t>
            </a:r>
          </a:p>
        </p:txBody>
      </p:sp>
      <p:sp>
        <p:nvSpPr>
          <p:cNvPr id="33" name="TextBox 32"/>
          <p:cNvSpPr txBox="1"/>
          <p:nvPr/>
        </p:nvSpPr>
        <p:spPr>
          <a:xfrm>
            <a:off x="6583680" y="5852159"/>
            <a:ext cx="822960" cy="365760"/>
          </a:xfrm>
          <a:prstGeom prst="rect">
            <a:avLst/>
          </a:prstGeom>
          <a:noFill/>
        </p:spPr>
        <p:txBody>
          <a:bodyPr wrap="none">
            <a:spAutoFit/>
          </a:bodyPr>
          <a:lstStyle/>
          <a:p>
            <a:pPr algn="r"/>
            <a:r>
              <a:rPr sz="1600" b="1">
                <a:solidFill>
                  <a:srgbClr val="7C5DD4"/>
                </a:solidFill>
              </a:rPr>
              <a:t>10</a:t>
            </a:r>
          </a:p>
        </p:txBody>
      </p:sp>
      <p:sp>
        <p:nvSpPr>
          <p:cNvPr id="34" name="Rounded Rectangle 33"/>
          <p:cNvSpPr/>
          <p:nvPr/>
        </p:nvSpPr>
        <p:spPr>
          <a:xfrm>
            <a:off x="7955279" y="1280160"/>
            <a:ext cx="3657600" cy="502920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955279" y="1280160"/>
            <a:ext cx="3657600" cy="109728"/>
          </a:xfrm>
          <a:prstGeom prst="round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83879" y="1508760"/>
            <a:ext cx="3200400" cy="4572000"/>
          </a:xfrm>
          <a:prstGeom prst="rect">
            <a:avLst/>
          </a:prstGeom>
          <a:noFill/>
        </p:spPr>
        <p:txBody>
          <a:bodyPr wrap="square">
            <a:spAutoFit/>
          </a:bodyPr>
          <a:lstStyle/>
          <a:p>
            <a:pPr>
              <a:spcAft>
                <a:spcPts val="1000"/>
              </a:spcAft>
            </a:pPr>
            <a:r>
              <a:rPr sz="1600" b="1">
                <a:solidFill>
                  <a:srgbClr val="7C5DD4"/>
                </a:solidFill>
              </a:rPr>
              <a:t>Cadre Institutionnel</a:t>
            </a:r>
          </a:p>
          <a:p>
            <a:pPr>
              <a:spcAft>
                <a:spcPts val="800"/>
              </a:spcAft>
            </a:pPr>
            <a:r>
              <a:rPr sz="1300" b="1">
                <a:solidFill>
                  <a:srgbClr val="28283C"/>
                </a:solidFill>
              </a:rPr>
              <a:t>Maître d'Ouvrage  :</a:t>
            </a:r>
            <a:r>
              <a:rPr sz="1300">
                <a:solidFill>
                  <a:srgbClr val="28283C"/>
                </a:solidFill>
              </a:rPr>
              <a:t> Agence Nationale des Technologies de l'Information et de la Communication (ANTIC)</a:t>
            </a:r>
          </a:p>
          <a:p>
            <a:pPr>
              <a:spcAft>
                <a:spcPts val="800"/>
              </a:spcAft>
            </a:pPr>
            <a:r>
              <a:rPr sz="1300" b="1">
                <a:solidFill>
                  <a:srgbClr val="28283C"/>
                </a:solidFill>
              </a:rPr>
              <a:t>Partenaire Académique  :</a:t>
            </a:r>
            <a:r>
              <a:rPr sz="1300">
                <a:solidFill>
                  <a:srgbClr val="28283C"/>
                </a:solidFill>
              </a:rPr>
              <a:t> École Nationale Supérieure Polytechnique de Yaoundé (ENSPY)</a:t>
            </a:r>
          </a:p>
          <a:p>
            <a:pPr>
              <a:spcAft>
                <a:spcPts val="800"/>
              </a:spcAft>
            </a:pPr>
            <a:r>
              <a:rPr sz="1300" b="1">
                <a:solidFill>
                  <a:srgbClr val="28283C"/>
                </a:solidFill>
              </a:rPr>
              <a:t>Objectif Principal  :</a:t>
            </a:r>
            <a:r>
              <a:rPr sz="1300">
                <a:solidFill>
                  <a:srgbClr val="28283C"/>
                </a:solidFill>
              </a:rPr>
              <a:t> Automatiser la génération des rapports Word d'État à partir des données Excel d'audit.</a:t>
            </a:r>
          </a:p>
          <a:p>
            <a:pPr>
              <a:spcAft>
                <a:spcPts val="800"/>
              </a:spcAft>
            </a:pPr>
            <a:r>
              <a:rPr sz="1300" b="1">
                <a:solidFill>
                  <a:srgbClr val="28283C"/>
                </a:solidFill>
              </a:rPr>
              <a:t>Conformité  :</a:t>
            </a:r>
            <a:r>
              <a:rPr sz="1300">
                <a:solidFill>
                  <a:srgbClr val="28283C"/>
                </a:solidFill>
              </a:rPr>
              <a:t> Respect intégral du Cahier des Charges institutionnel de 28 pages.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9144000" cy="640080"/>
          </a:xfrm>
          <a:prstGeom prst="rect">
            <a:avLst/>
          </a:prstGeom>
          <a:noFill/>
        </p:spPr>
        <p:txBody>
          <a:bodyPr wrap="square">
            <a:spAutoFit/>
          </a:bodyPr>
          <a:lstStyle/>
          <a:p>
            <a:r>
              <a:rPr sz="2000" b="1">
                <a:solidFill>
                  <a:srgbClr val="7C5DD4"/>
                </a:solidFill>
              </a:rPr>
              <a:t>01  </a:t>
            </a:r>
            <a:r>
              <a:rPr sz="2200" b="1">
                <a:solidFill>
                  <a:srgbClr val="FFFFFF"/>
                </a:solidFill>
              </a:rPr>
              <a:t>INTRODUCTION &amp; VUE D'ENSEMBLE</a:t>
            </a:r>
          </a:p>
        </p:txBody>
      </p:sp>
      <p:sp>
        <p:nvSpPr>
          <p:cNvPr id="5" name="TextBox 4"/>
          <p:cNvSpPr txBox="1"/>
          <p:nvPr/>
        </p:nvSpPr>
        <p:spPr>
          <a:xfrm>
            <a:off x="8229600" y="320040"/>
            <a:ext cx="3474720" cy="365760"/>
          </a:xfrm>
          <a:prstGeom prst="rect">
            <a:avLst/>
          </a:prstGeom>
          <a:noFill/>
        </p:spPr>
        <p:txBody>
          <a:bodyPr wrap="none">
            <a:spAutoFit/>
          </a:bodyPr>
          <a:lstStyle/>
          <a:p>
            <a:pPr algn="r"/>
            <a:r>
              <a:rPr sz="1200">
                <a:solidFill>
                  <a:srgbClr val="7C5DD4"/>
                </a:solidFill>
              </a:rPr>
              <a:t>ANTIC • ENSPY (Polytechnique)</a:t>
            </a:r>
          </a:p>
        </p:txBody>
      </p:sp>
      <p:sp>
        <p:nvSpPr>
          <p:cNvPr id="6" name="Rounded Rectangle 5"/>
          <p:cNvSpPr/>
          <p:nvPr/>
        </p:nvSpPr>
        <p:spPr>
          <a:xfrm>
            <a:off x="548640" y="1371600"/>
            <a:ext cx="11064240" cy="1371600"/>
          </a:xfrm>
          <a:prstGeom prst="roundRect">
            <a:avLst/>
          </a:prstGeom>
          <a:solidFill>
            <a:srgbClr val="F5F3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371600"/>
            <a:ext cx="11064240" cy="109728"/>
          </a:xfrm>
          <a:prstGeom prst="round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10607040" cy="914400"/>
          </a:xfrm>
          <a:prstGeom prst="rect">
            <a:avLst/>
          </a:prstGeom>
          <a:noFill/>
        </p:spPr>
        <p:txBody>
          <a:bodyPr wrap="square">
            <a:spAutoFit/>
          </a:bodyPr>
          <a:lstStyle/>
          <a:p>
            <a:pPr>
              <a:spcAft>
                <a:spcPts val="1000"/>
              </a:spcAft>
            </a:pPr>
            <a:r>
              <a:rPr sz="1600" b="1">
                <a:solidFill>
                  <a:srgbClr val="4C3194"/>
                </a:solidFill>
              </a:rPr>
              <a:t>Vue d'Ensemble du Projet</a:t>
            </a:r>
          </a:p>
          <a:p>
            <a:pPr>
              <a:spcAft>
                <a:spcPts val="800"/>
              </a:spcAft>
            </a:pPr>
            <a:r>
              <a:rPr sz="1300">
                <a:solidFill>
                  <a:srgbClr val="28283C"/>
                </a:solidFill>
              </a:rPr>
              <a:t>Cette présentation expose l'ingénierie et l'architecture de la nouvelle plateforme web souveraine développée pour l'ANTIC. Destinée à automatiser la transformation des tableaux de bord Excel complexes en rapports Word officiels normés, la solution élimine les tâches manuelles chronophages, garantit une sécurité d'État par l'isolation 100% intranet et assure une traçabilité totale des documents.</a:t>
            </a:r>
          </a:p>
        </p:txBody>
      </p:sp>
      <p:sp>
        <p:nvSpPr>
          <p:cNvPr id="9" name="Rounded Rectangle 8"/>
          <p:cNvSpPr/>
          <p:nvPr/>
        </p:nvSpPr>
        <p:spPr>
          <a:xfrm>
            <a:off x="548640" y="2926080"/>
            <a:ext cx="5303520" cy="347472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2926080"/>
            <a:ext cx="5303520" cy="109728"/>
          </a:xfrm>
          <a:prstGeom prst="round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154680"/>
            <a:ext cx="4846320" cy="3017520"/>
          </a:xfrm>
          <a:prstGeom prst="rect">
            <a:avLst/>
          </a:prstGeom>
          <a:noFill/>
        </p:spPr>
        <p:txBody>
          <a:bodyPr wrap="square">
            <a:spAutoFit/>
          </a:bodyPr>
          <a:lstStyle/>
          <a:p>
            <a:pPr>
              <a:spcAft>
                <a:spcPts val="1000"/>
              </a:spcAft>
            </a:pPr>
            <a:r>
              <a:rPr sz="1600" b="1">
                <a:solidFill>
                  <a:srgbClr val="4C3194"/>
                </a:solidFill>
              </a:rPr>
              <a:t>Présentation Générale de l'Agence</a:t>
            </a:r>
          </a:p>
          <a:p>
            <a:pPr>
              <a:spcAft>
                <a:spcPts val="800"/>
              </a:spcAft>
            </a:pPr>
            <a:r>
              <a:rPr sz="1300" b="1">
                <a:solidFill>
                  <a:srgbClr val="28283C"/>
                </a:solidFill>
              </a:rPr>
              <a:t>Rôle Institutionnel  :</a:t>
            </a:r>
            <a:r>
              <a:rPr sz="1300">
                <a:solidFill>
                  <a:srgbClr val="28283C"/>
                </a:solidFill>
              </a:rPr>
              <a:t> L'ANTIC constitue le bras séculier de l'État du Cameroun pour la régulation et la sécurisation du cyberespace national.</a:t>
            </a:r>
          </a:p>
          <a:p>
            <a:pPr>
              <a:spcAft>
                <a:spcPts val="800"/>
              </a:spcAft>
            </a:pPr>
            <a:r>
              <a:rPr sz="1300" b="1">
                <a:solidFill>
                  <a:srgbClr val="28283C"/>
                </a:solidFill>
              </a:rPr>
              <a:t>Traitement des Données  :</a:t>
            </a:r>
            <a:r>
              <a:rPr sz="1300">
                <a:solidFill>
                  <a:srgbClr val="28283C"/>
                </a:solidFill>
              </a:rPr>
              <a:t> Les équipes d'audit et de régulation compilent quotidiennement d'importants volumes de données sous forme de tableurs Excel.</a:t>
            </a:r>
          </a:p>
          <a:p>
            <a:pPr>
              <a:spcAft>
                <a:spcPts val="800"/>
              </a:spcAft>
            </a:pPr>
            <a:r>
              <a:rPr sz="1300" b="1">
                <a:solidFill>
                  <a:srgbClr val="28283C"/>
                </a:solidFill>
              </a:rPr>
              <a:t>Format de Restitution  :</a:t>
            </a:r>
            <a:r>
              <a:rPr sz="1300">
                <a:solidFill>
                  <a:srgbClr val="28283C"/>
                </a:solidFill>
              </a:rPr>
              <a:t> La communication officielle impose la publication de ces informations sous forme de rapports Word rédigés.</a:t>
            </a:r>
          </a:p>
        </p:txBody>
      </p:sp>
      <p:sp>
        <p:nvSpPr>
          <p:cNvPr id="12" name="Rounded Rectangle 11"/>
          <p:cNvSpPr/>
          <p:nvPr/>
        </p:nvSpPr>
        <p:spPr>
          <a:xfrm>
            <a:off x="6217920" y="2926080"/>
            <a:ext cx="5303520" cy="347472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2926080"/>
            <a:ext cx="5303520" cy="109728"/>
          </a:xfrm>
          <a:prstGeom prst="round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154680"/>
            <a:ext cx="4846320" cy="3017520"/>
          </a:xfrm>
          <a:prstGeom prst="rect">
            <a:avLst/>
          </a:prstGeom>
          <a:noFill/>
        </p:spPr>
        <p:txBody>
          <a:bodyPr wrap="square">
            <a:spAutoFit/>
          </a:bodyPr>
          <a:lstStyle/>
          <a:p>
            <a:pPr>
              <a:spcAft>
                <a:spcPts val="1000"/>
              </a:spcAft>
            </a:pPr>
            <a:r>
              <a:rPr sz="1600" b="1">
                <a:solidFill>
                  <a:srgbClr val="7C5DD4"/>
                </a:solidFill>
              </a:rPr>
              <a:t>Objectifs Globaux du Projet</a:t>
            </a:r>
          </a:p>
          <a:p>
            <a:pPr>
              <a:spcAft>
                <a:spcPts val="800"/>
              </a:spcAft>
            </a:pPr>
            <a:r>
              <a:rPr sz="1300" b="1">
                <a:solidFill>
                  <a:srgbClr val="28283C"/>
                </a:solidFill>
              </a:rPr>
              <a:t>Modernisation Applicative  :</a:t>
            </a:r>
            <a:r>
              <a:rPr sz="1300">
                <a:solidFill>
                  <a:srgbClr val="28283C"/>
                </a:solidFill>
              </a:rPr>
              <a:t> Concevoir une plateforme web centralisée et intuitive dédiée à la conversion automatique.</a:t>
            </a:r>
          </a:p>
          <a:p>
            <a:pPr>
              <a:spcAft>
                <a:spcPts val="800"/>
              </a:spcAft>
            </a:pPr>
            <a:r>
              <a:rPr sz="1300" b="1">
                <a:solidFill>
                  <a:srgbClr val="28283C"/>
                </a:solidFill>
              </a:rPr>
              <a:t>Intégrité des Données  :</a:t>
            </a:r>
            <a:r>
              <a:rPr sz="1300">
                <a:solidFill>
                  <a:srgbClr val="28283C"/>
                </a:solidFill>
              </a:rPr>
              <a:t> Supprimer les manipulations manuelles tout en préservant la mise en forme exacte des tableaux.</a:t>
            </a:r>
          </a:p>
          <a:p>
            <a:pPr>
              <a:spcAft>
                <a:spcPts val="800"/>
              </a:spcAft>
            </a:pPr>
            <a:r>
              <a:rPr sz="1300" b="1">
                <a:solidFill>
                  <a:srgbClr val="28283C"/>
                </a:solidFill>
              </a:rPr>
              <a:t>Sécurité &amp; Traçabilité  :</a:t>
            </a:r>
            <a:r>
              <a:rPr sz="1300">
                <a:solidFill>
                  <a:srgbClr val="28283C"/>
                </a:solidFill>
              </a:rPr>
              <a:t> Garantir une traçabilité sans faille via un registre d'audit immuable SHA-256 certifiant l'auteur des fichiers.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9144000" cy="640080"/>
          </a:xfrm>
          <a:prstGeom prst="rect">
            <a:avLst/>
          </a:prstGeom>
          <a:noFill/>
        </p:spPr>
        <p:txBody>
          <a:bodyPr wrap="square">
            <a:spAutoFit/>
          </a:bodyPr>
          <a:lstStyle/>
          <a:p>
            <a:r>
              <a:rPr sz="2000" b="1">
                <a:solidFill>
                  <a:srgbClr val="7C5DD4"/>
                </a:solidFill>
              </a:rPr>
              <a:t>02  </a:t>
            </a:r>
            <a:r>
              <a:rPr sz="2200" b="1">
                <a:solidFill>
                  <a:srgbClr val="FFFFFF"/>
                </a:solidFill>
              </a:rPr>
              <a:t>CONTEXTE</a:t>
            </a:r>
          </a:p>
        </p:txBody>
      </p:sp>
      <p:sp>
        <p:nvSpPr>
          <p:cNvPr id="5" name="TextBox 4"/>
          <p:cNvSpPr txBox="1"/>
          <p:nvPr/>
        </p:nvSpPr>
        <p:spPr>
          <a:xfrm>
            <a:off x="8229600" y="320040"/>
            <a:ext cx="3474720" cy="365760"/>
          </a:xfrm>
          <a:prstGeom prst="rect">
            <a:avLst/>
          </a:prstGeom>
          <a:noFill/>
        </p:spPr>
        <p:txBody>
          <a:bodyPr wrap="none">
            <a:spAutoFit/>
          </a:bodyPr>
          <a:lstStyle/>
          <a:p>
            <a:pPr algn="r"/>
            <a:r>
              <a:rPr sz="1200">
                <a:solidFill>
                  <a:srgbClr val="7C5DD4"/>
                </a:solidFill>
              </a:rPr>
              <a:t>ANTIC • ENSPY (Polytechnique)</a:t>
            </a:r>
          </a:p>
        </p:txBody>
      </p:sp>
      <p:sp>
        <p:nvSpPr>
          <p:cNvPr id="6" name="Rounded Rectangle 5"/>
          <p:cNvSpPr/>
          <p:nvPr/>
        </p:nvSpPr>
        <p:spPr>
          <a:xfrm>
            <a:off x="548640" y="1463040"/>
            <a:ext cx="530352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463040"/>
            <a:ext cx="5303520" cy="109728"/>
          </a:xfrm>
          <a:prstGeom prst="round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4846320" cy="4297680"/>
          </a:xfrm>
          <a:prstGeom prst="rect">
            <a:avLst/>
          </a:prstGeom>
          <a:noFill/>
        </p:spPr>
        <p:txBody>
          <a:bodyPr wrap="square">
            <a:spAutoFit/>
          </a:bodyPr>
          <a:lstStyle/>
          <a:p>
            <a:pPr>
              <a:spcAft>
                <a:spcPts val="1000"/>
              </a:spcAft>
            </a:pPr>
            <a:r>
              <a:rPr sz="1600" b="1">
                <a:solidFill>
                  <a:srgbClr val="4C3194"/>
                </a:solidFill>
              </a:rPr>
              <a:t>Contexte Métier &amp; Exigences d'État</a:t>
            </a:r>
          </a:p>
          <a:p>
            <a:pPr>
              <a:spcAft>
                <a:spcPts val="800"/>
              </a:spcAft>
            </a:pPr>
            <a:r>
              <a:rPr sz="1300" b="1">
                <a:solidFill>
                  <a:srgbClr val="28283C"/>
                </a:solidFill>
              </a:rPr>
              <a:t>Activité Régulatrice  :</a:t>
            </a:r>
            <a:r>
              <a:rPr sz="1300">
                <a:solidFill>
                  <a:srgbClr val="28283C"/>
                </a:solidFill>
              </a:rPr>
              <a:t> La Division de la Normalisation et de la Coopération (DNC) élabore continuellement des synthèses d'activité et des bilans de sécurité.</a:t>
            </a:r>
          </a:p>
          <a:p>
            <a:pPr>
              <a:spcAft>
                <a:spcPts val="800"/>
              </a:spcAft>
            </a:pPr>
            <a:r>
              <a:rPr sz="1300" b="1">
                <a:solidFill>
                  <a:srgbClr val="28283C"/>
                </a:solidFill>
              </a:rPr>
              <a:t>Dualité des Formats  :</a:t>
            </a:r>
            <a:r>
              <a:rPr sz="1300">
                <a:solidFill>
                  <a:srgbClr val="28283C"/>
                </a:solidFill>
              </a:rPr>
              <a:t> Microsoft Excel est le standard pour le calcul matriciel, tandis que Microsoft Word est l'unique format accepté par la hiérarchie pour la signature des rapports.</a:t>
            </a:r>
          </a:p>
          <a:p>
            <a:pPr>
              <a:spcAft>
                <a:spcPts val="800"/>
              </a:spcAft>
            </a:pPr>
            <a:r>
              <a:rPr sz="1300" b="1">
                <a:solidFill>
                  <a:srgbClr val="28283C"/>
                </a:solidFill>
              </a:rPr>
              <a:t>Rigueur Exigée  :</a:t>
            </a:r>
            <a:r>
              <a:rPr sz="1300">
                <a:solidFill>
                  <a:srgbClr val="28283C"/>
                </a:solidFill>
              </a:rPr>
              <a:t> La conformité aux normes gouvernementales requiert une restitution fidèle et élégante des données brutes en chapitres rédigés.</a:t>
            </a:r>
          </a:p>
        </p:txBody>
      </p:sp>
      <p:sp>
        <p:nvSpPr>
          <p:cNvPr id="9" name="Rounded Rectangle 8"/>
          <p:cNvSpPr/>
          <p:nvPr/>
        </p:nvSpPr>
        <p:spPr>
          <a:xfrm>
            <a:off x="6217920" y="1463040"/>
            <a:ext cx="530352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463040"/>
            <a:ext cx="5303520" cy="109728"/>
          </a:xfrm>
          <a:prstGeom prst="round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91640"/>
            <a:ext cx="4846320" cy="4297680"/>
          </a:xfrm>
          <a:prstGeom prst="rect">
            <a:avLst/>
          </a:prstGeom>
          <a:noFill/>
        </p:spPr>
        <p:txBody>
          <a:bodyPr wrap="square">
            <a:spAutoFit/>
          </a:bodyPr>
          <a:lstStyle/>
          <a:p>
            <a:pPr>
              <a:spcAft>
                <a:spcPts val="1000"/>
              </a:spcAft>
            </a:pPr>
            <a:r>
              <a:rPr sz="1600" b="1">
                <a:solidFill>
                  <a:srgbClr val="7C5DD4"/>
                </a:solidFill>
              </a:rPr>
              <a:t>Enjeux Stratégiques de la Modernisation</a:t>
            </a:r>
          </a:p>
          <a:p>
            <a:pPr>
              <a:spcAft>
                <a:spcPts val="800"/>
              </a:spcAft>
            </a:pPr>
            <a:r>
              <a:rPr sz="1300" b="1">
                <a:solidFill>
                  <a:srgbClr val="28283C"/>
                </a:solidFill>
              </a:rPr>
              <a:t>Gain d'Efficacité  :</a:t>
            </a:r>
            <a:r>
              <a:rPr sz="1300">
                <a:solidFill>
                  <a:srgbClr val="28283C"/>
                </a:solidFill>
              </a:rPr>
              <a:t> Offrir aux ingénieurs et aux cadres de l'agence un outil d'automatisation instantané pour libérer du temps d'analyse.</a:t>
            </a:r>
          </a:p>
          <a:p>
            <a:pPr>
              <a:spcAft>
                <a:spcPts val="800"/>
              </a:spcAft>
            </a:pPr>
            <a:r>
              <a:rPr sz="1300" b="1">
                <a:solidFill>
                  <a:srgbClr val="28283C"/>
                </a:solidFill>
              </a:rPr>
              <a:t>Homogénéité Visuelle  :</a:t>
            </a:r>
            <a:r>
              <a:rPr sz="1300">
                <a:solidFill>
                  <a:srgbClr val="28283C"/>
                </a:solidFill>
              </a:rPr>
              <a:t> Appliquer systématiquement la charte graphique officielle de l'ANTIC sur l'ensemble des documents générés.</a:t>
            </a:r>
          </a:p>
          <a:p>
            <a:pPr>
              <a:spcAft>
                <a:spcPts val="800"/>
              </a:spcAft>
            </a:pPr>
            <a:r>
              <a:rPr sz="1300" b="1">
                <a:solidFill>
                  <a:srgbClr val="28283C"/>
                </a:solidFill>
              </a:rPr>
              <a:t>Souveraineté Nationale  :</a:t>
            </a:r>
            <a:r>
              <a:rPr sz="1300">
                <a:solidFill>
                  <a:srgbClr val="28283C"/>
                </a:solidFill>
              </a:rPr>
              <a:t> Maintenir le contrôle absolu sur le flux des données sensibles au sein de l'infrastructure intranet.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9144000" cy="640080"/>
          </a:xfrm>
          <a:prstGeom prst="rect">
            <a:avLst/>
          </a:prstGeom>
          <a:noFill/>
        </p:spPr>
        <p:txBody>
          <a:bodyPr wrap="square">
            <a:spAutoFit/>
          </a:bodyPr>
          <a:lstStyle/>
          <a:p>
            <a:r>
              <a:rPr sz="2000" b="1">
                <a:solidFill>
                  <a:srgbClr val="7C5DD4"/>
                </a:solidFill>
              </a:rPr>
              <a:t>03  </a:t>
            </a:r>
            <a:r>
              <a:rPr sz="2200" b="1">
                <a:solidFill>
                  <a:srgbClr val="FFFFFF"/>
                </a:solidFill>
              </a:rPr>
              <a:t>PROBLÈME &amp; PROBLÉMATIQUE</a:t>
            </a:r>
          </a:p>
        </p:txBody>
      </p:sp>
      <p:sp>
        <p:nvSpPr>
          <p:cNvPr id="5" name="TextBox 4"/>
          <p:cNvSpPr txBox="1"/>
          <p:nvPr/>
        </p:nvSpPr>
        <p:spPr>
          <a:xfrm>
            <a:off x="8229600" y="320040"/>
            <a:ext cx="3474720" cy="365760"/>
          </a:xfrm>
          <a:prstGeom prst="rect">
            <a:avLst/>
          </a:prstGeom>
          <a:noFill/>
        </p:spPr>
        <p:txBody>
          <a:bodyPr wrap="none">
            <a:spAutoFit/>
          </a:bodyPr>
          <a:lstStyle/>
          <a:p>
            <a:pPr algn="r"/>
            <a:r>
              <a:rPr sz="1200">
                <a:solidFill>
                  <a:srgbClr val="7C5DD4"/>
                </a:solidFill>
              </a:rPr>
              <a:t>ANTIC • ENSPY (Polytechnique)</a:t>
            </a:r>
          </a:p>
        </p:txBody>
      </p:sp>
      <p:sp>
        <p:nvSpPr>
          <p:cNvPr id="6" name="Rounded Rectangle 5"/>
          <p:cNvSpPr/>
          <p:nvPr/>
        </p:nvSpPr>
        <p:spPr>
          <a:xfrm>
            <a:off x="548640" y="1463040"/>
            <a:ext cx="3474720" cy="4754880"/>
          </a:xfrm>
          <a:prstGeom prst="roundRect">
            <a:avLst/>
          </a:prstGeom>
          <a:solidFill>
            <a:srgbClr val="FEF2F2"/>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463040"/>
            <a:ext cx="3474720" cy="10972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3017520" cy="4297680"/>
          </a:xfrm>
          <a:prstGeom prst="rect">
            <a:avLst/>
          </a:prstGeom>
          <a:noFill/>
        </p:spPr>
        <p:txBody>
          <a:bodyPr wrap="square">
            <a:spAutoFit/>
          </a:bodyPr>
          <a:lstStyle/>
          <a:p>
            <a:pPr>
              <a:spcAft>
                <a:spcPts val="1000"/>
              </a:spcAft>
            </a:pPr>
            <a:r>
              <a:rPr sz="1600" b="1">
                <a:solidFill>
                  <a:srgbClr val="EF4444"/>
                </a:solidFill>
              </a:rPr>
              <a:t>DANGER CLOUD TIERS</a:t>
            </a:r>
          </a:p>
          <a:p>
            <a:pPr>
              <a:spcAft>
                <a:spcPts val="800"/>
              </a:spcAft>
            </a:pPr>
            <a:r>
              <a:rPr sz="1300" b="1">
                <a:solidFill>
                  <a:srgbClr val="28283C"/>
                </a:solidFill>
              </a:rPr>
              <a:t>Menace de Fuite d'Information  :</a:t>
            </a:r>
            <a:r>
              <a:rPr sz="1300">
                <a:solidFill>
                  <a:srgbClr val="28283C"/>
                </a:solidFill>
              </a:rPr>
              <a:t> L'utilisation informelle de convertisseurs en ligne gratuits hébergés à l'étranger expose les données stratégiques de l'État.</a:t>
            </a:r>
          </a:p>
          <a:p>
            <a:pPr>
              <a:spcAft>
                <a:spcPts val="800"/>
              </a:spcAft>
            </a:pPr>
            <a:r>
              <a:rPr sz="1300" b="1">
                <a:solidFill>
                  <a:srgbClr val="28283C"/>
                </a:solidFill>
              </a:rPr>
              <a:t>Perte de Souveraineté  :</a:t>
            </a:r>
            <a:r>
              <a:rPr sz="1300">
                <a:solidFill>
                  <a:srgbClr val="28283C"/>
                </a:solidFill>
              </a:rPr>
              <a:t> Absence de contrôle sur la conservation, la copie ou le traitement des fichiers soumis sur ces plateformes cloud non vérifiées.</a:t>
            </a:r>
          </a:p>
        </p:txBody>
      </p:sp>
      <p:sp>
        <p:nvSpPr>
          <p:cNvPr id="9" name="Rounded Rectangle 8"/>
          <p:cNvSpPr/>
          <p:nvPr/>
        </p:nvSpPr>
        <p:spPr>
          <a:xfrm>
            <a:off x="4297680" y="1463040"/>
            <a:ext cx="3474720" cy="4754880"/>
          </a:xfrm>
          <a:prstGeom prst="roundRect">
            <a:avLst/>
          </a:prstGeom>
          <a:solidFill>
            <a:srgbClr val="FEFCE8"/>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80" y="1463040"/>
            <a:ext cx="3474720" cy="10972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691640"/>
            <a:ext cx="3017520" cy="4297680"/>
          </a:xfrm>
          <a:prstGeom prst="rect">
            <a:avLst/>
          </a:prstGeom>
          <a:noFill/>
        </p:spPr>
        <p:txBody>
          <a:bodyPr wrap="square">
            <a:spAutoFit/>
          </a:bodyPr>
          <a:lstStyle/>
          <a:p>
            <a:pPr>
              <a:spcAft>
                <a:spcPts val="1000"/>
              </a:spcAft>
            </a:pPr>
            <a:r>
              <a:rPr sz="1600" b="1">
                <a:solidFill>
                  <a:srgbClr val="F59E0B"/>
                </a:solidFill>
              </a:rPr>
              <a:t>CHRONOPHAGIE MANUELLE</a:t>
            </a:r>
          </a:p>
          <a:p>
            <a:pPr>
              <a:spcAft>
                <a:spcPts val="800"/>
              </a:spcAft>
            </a:pPr>
            <a:r>
              <a:rPr sz="1300" b="1">
                <a:solidFill>
                  <a:srgbClr val="28283C"/>
                </a:solidFill>
              </a:rPr>
              <a:t>Fardeau Opérationnel  :</a:t>
            </a:r>
            <a:r>
              <a:rPr sz="1300">
                <a:solidFill>
                  <a:srgbClr val="28283C"/>
                </a:solidFill>
              </a:rPr>
              <a:t> La copie et le collage manuels onglet par onglet mobilisent les équipes pendant de longues heures.</a:t>
            </a:r>
          </a:p>
          <a:p>
            <a:pPr>
              <a:spcAft>
                <a:spcPts val="800"/>
              </a:spcAft>
            </a:pPr>
            <a:r>
              <a:rPr sz="1300" b="1">
                <a:solidFill>
                  <a:srgbClr val="28283C"/>
                </a:solidFill>
              </a:rPr>
              <a:t>Dégradation du Rendu  :</a:t>
            </a:r>
            <a:r>
              <a:rPr sz="1300">
                <a:solidFill>
                  <a:srgbClr val="28283C"/>
                </a:solidFill>
              </a:rPr>
              <a:t> Risque élevé d'erreurs d'inattention, d'altération des formules et de tronquage des bordures lors du transfert.</a:t>
            </a:r>
          </a:p>
        </p:txBody>
      </p:sp>
      <p:sp>
        <p:nvSpPr>
          <p:cNvPr id="12" name="Rounded Rectangle 11"/>
          <p:cNvSpPr/>
          <p:nvPr/>
        </p:nvSpPr>
        <p:spPr>
          <a:xfrm>
            <a:off x="8046720" y="1463040"/>
            <a:ext cx="356616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20" y="1463040"/>
            <a:ext cx="3566160" cy="109728"/>
          </a:xfrm>
          <a:prstGeom prst="round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691640"/>
            <a:ext cx="3108960" cy="4297680"/>
          </a:xfrm>
          <a:prstGeom prst="rect">
            <a:avLst/>
          </a:prstGeom>
          <a:noFill/>
        </p:spPr>
        <p:txBody>
          <a:bodyPr wrap="square">
            <a:spAutoFit/>
          </a:bodyPr>
          <a:lstStyle/>
          <a:p>
            <a:pPr>
              <a:spcAft>
                <a:spcPts val="1000"/>
              </a:spcAft>
            </a:pPr>
            <a:r>
              <a:rPr sz="1600" b="1">
                <a:solidFill>
                  <a:srgbClr val="4C3194"/>
                </a:solidFill>
              </a:rPr>
              <a:t>PROBLÉMATIQUE DE RECHERCHE</a:t>
            </a:r>
          </a:p>
          <a:p>
            <a:pPr>
              <a:spcAft>
                <a:spcPts val="800"/>
              </a:spcAft>
            </a:pPr>
            <a:r>
              <a:rPr sz="1300" b="1">
                <a:solidFill>
                  <a:srgbClr val="28283C"/>
                </a:solidFill>
              </a:rPr>
              <a:t>Formulation Centrale  :</a:t>
            </a:r>
            <a:r>
              <a:rPr sz="1300">
                <a:solidFill>
                  <a:srgbClr val="28283C"/>
                </a:solidFill>
              </a:rPr>
              <a:t> Comment concevoir une architecture web souveraine, performante et certifiée, permettant d'automatiser la transmutation des classeurs Excel vers Word sans persistance vulnérable et avec traçabilité intégrale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9144000" cy="640080"/>
          </a:xfrm>
          <a:prstGeom prst="rect">
            <a:avLst/>
          </a:prstGeom>
          <a:noFill/>
        </p:spPr>
        <p:txBody>
          <a:bodyPr wrap="square">
            <a:spAutoFit/>
          </a:bodyPr>
          <a:lstStyle/>
          <a:p>
            <a:r>
              <a:rPr sz="2000" b="1">
                <a:solidFill>
                  <a:srgbClr val="7C5DD4"/>
                </a:solidFill>
              </a:rPr>
              <a:t>04  </a:t>
            </a:r>
            <a:r>
              <a:rPr sz="2200" b="1">
                <a:solidFill>
                  <a:srgbClr val="FFFFFF"/>
                </a:solidFill>
              </a:rPr>
              <a:t>PRÉSENTATION DE L'EXISTANT</a:t>
            </a:r>
          </a:p>
        </p:txBody>
      </p:sp>
      <p:sp>
        <p:nvSpPr>
          <p:cNvPr id="5" name="TextBox 4"/>
          <p:cNvSpPr txBox="1"/>
          <p:nvPr/>
        </p:nvSpPr>
        <p:spPr>
          <a:xfrm>
            <a:off x="8229600" y="320040"/>
            <a:ext cx="3474720" cy="365760"/>
          </a:xfrm>
          <a:prstGeom prst="rect">
            <a:avLst/>
          </a:prstGeom>
          <a:noFill/>
        </p:spPr>
        <p:txBody>
          <a:bodyPr wrap="none">
            <a:spAutoFit/>
          </a:bodyPr>
          <a:lstStyle/>
          <a:p>
            <a:pPr algn="r"/>
            <a:r>
              <a:rPr sz="1200">
                <a:solidFill>
                  <a:srgbClr val="7C5DD4"/>
                </a:solidFill>
              </a:rPr>
              <a:t>ANTIC • ENSPY (Polytechnique)</a:t>
            </a:r>
          </a:p>
        </p:txBody>
      </p:sp>
      <p:sp>
        <p:nvSpPr>
          <p:cNvPr id="6" name="Rounded Rectangle 5"/>
          <p:cNvSpPr/>
          <p:nvPr/>
        </p:nvSpPr>
        <p:spPr>
          <a:xfrm>
            <a:off x="548640" y="1463040"/>
            <a:ext cx="530352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463040"/>
            <a:ext cx="5303520" cy="109728"/>
          </a:xfrm>
          <a:prstGeom prst="round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4846320" cy="4297680"/>
          </a:xfrm>
          <a:prstGeom prst="rect">
            <a:avLst/>
          </a:prstGeom>
          <a:noFill/>
        </p:spPr>
        <p:txBody>
          <a:bodyPr wrap="square">
            <a:spAutoFit/>
          </a:bodyPr>
          <a:lstStyle/>
          <a:p>
            <a:pPr>
              <a:spcAft>
                <a:spcPts val="1000"/>
              </a:spcAft>
            </a:pPr>
            <a:r>
              <a:rPr sz="1600" b="1">
                <a:solidFill>
                  <a:srgbClr val="4C3194"/>
                </a:solidFill>
              </a:rPr>
              <a:t>Procédure Actuelle de Traitement</a:t>
            </a:r>
          </a:p>
          <a:p>
            <a:pPr>
              <a:spcAft>
                <a:spcPts val="800"/>
              </a:spcAft>
            </a:pPr>
            <a:r>
              <a:rPr sz="1300" b="1">
                <a:solidFill>
                  <a:srgbClr val="28283C"/>
                </a:solidFill>
              </a:rPr>
              <a:t>Étape 1  :</a:t>
            </a:r>
            <a:r>
              <a:rPr sz="1300">
                <a:solidFill>
                  <a:srgbClr val="28283C"/>
                </a:solidFill>
              </a:rPr>
              <a:t> Consolidation manuelle des données dans un fichier Excel unique sur le poste de travail.</a:t>
            </a:r>
          </a:p>
          <a:p>
            <a:pPr>
              <a:spcAft>
                <a:spcPts val="800"/>
              </a:spcAft>
            </a:pPr>
            <a:r>
              <a:rPr sz="1300" b="1">
                <a:solidFill>
                  <a:srgbClr val="28283C"/>
                </a:solidFill>
              </a:rPr>
              <a:t>Étape 2  :</a:t>
            </a:r>
            <a:r>
              <a:rPr sz="1300">
                <a:solidFill>
                  <a:srgbClr val="28283C"/>
                </a:solidFill>
              </a:rPr>
              <a:t> Extraction et copie successive de chaque matrice de données vers un document Word vierge.</a:t>
            </a:r>
          </a:p>
          <a:p>
            <a:pPr>
              <a:spcAft>
                <a:spcPts val="800"/>
              </a:spcAft>
            </a:pPr>
            <a:r>
              <a:rPr sz="1300" b="1">
                <a:solidFill>
                  <a:srgbClr val="28283C"/>
                </a:solidFill>
              </a:rPr>
              <a:t>Étape 3  :</a:t>
            </a:r>
            <a:r>
              <a:rPr sz="1300">
                <a:solidFill>
                  <a:srgbClr val="28283C"/>
                </a:solidFill>
              </a:rPr>
              <a:t> Réajustement manuel des styles, des largeurs de colonnes, des polices et de la mise en page.</a:t>
            </a:r>
          </a:p>
          <a:p>
            <a:pPr>
              <a:spcAft>
                <a:spcPts val="800"/>
              </a:spcAft>
            </a:pPr>
            <a:r>
              <a:rPr sz="1300" b="1">
                <a:solidFill>
                  <a:srgbClr val="28283C"/>
                </a:solidFill>
              </a:rPr>
              <a:t>Étape 4  :</a:t>
            </a:r>
            <a:r>
              <a:rPr sz="1300">
                <a:solidFill>
                  <a:srgbClr val="28283C"/>
                </a:solidFill>
              </a:rPr>
              <a:t> Vérification visuelle longue pour corriger les sauts de lignes intempestifs et les cellules masquées.</a:t>
            </a:r>
          </a:p>
        </p:txBody>
      </p:sp>
      <p:sp>
        <p:nvSpPr>
          <p:cNvPr id="9" name="Rounded Rectangle 8"/>
          <p:cNvSpPr/>
          <p:nvPr/>
        </p:nvSpPr>
        <p:spPr>
          <a:xfrm>
            <a:off x="6217920" y="1463040"/>
            <a:ext cx="530352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463040"/>
            <a:ext cx="5303520" cy="109728"/>
          </a:xfrm>
          <a:prstGeom prst="round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91640"/>
            <a:ext cx="4846320" cy="4297680"/>
          </a:xfrm>
          <a:prstGeom prst="rect">
            <a:avLst/>
          </a:prstGeom>
          <a:noFill/>
        </p:spPr>
        <p:txBody>
          <a:bodyPr wrap="square">
            <a:spAutoFit/>
          </a:bodyPr>
          <a:lstStyle/>
          <a:p>
            <a:pPr>
              <a:spcAft>
                <a:spcPts val="1000"/>
              </a:spcAft>
            </a:pPr>
            <a:r>
              <a:rPr sz="1600" b="1">
                <a:solidFill>
                  <a:srgbClr val="7C5DD4"/>
                </a:solidFill>
              </a:rPr>
              <a:t>Limites des Outils Locaux actuels</a:t>
            </a:r>
          </a:p>
          <a:p>
            <a:pPr>
              <a:spcAft>
                <a:spcPts val="800"/>
              </a:spcAft>
            </a:pPr>
            <a:r>
              <a:rPr sz="1300" b="1">
                <a:solidFill>
                  <a:srgbClr val="28283C"/>
                </a:solidFill>
              </a:rPr>
              <a:t>Macros VBA Locales  :</a:t>
            </a:r>
            <a:r>
              <a:rPr sz="1300">
                <a:solidFill>
                  <a:srgbClr val="28283C"/>
                </a:solidFill>
              </a:rPr>
              <a:t> Solutions de dépannage dépendantes de la version bureautique installée sur le poste utilisateur.</a:t>
            </a:r>
          </a:p>
          <a:p>
            <a:pPr>
              <a:spcAft>
                <a:spcPts val="800"/>
              </a:spcAft>
            </a:pPr>
            <a:r>
              <a:rPr sz="1300" b="1">
                <a:solidFill>
                  <a:srgbClr val="28283C"/>
                </a:solidFill>
              </a:rPr>
              <a:t>Opacité des Exécutions  :</a:t>
            </a:r>
            <a:r>
              <a:rPr sz="1300">
                <a:solidFill>
                  <a:srgbClr val="28283C"/>
                </a:solidFill>
              </a:rPr>
              <a:t> Absence totale de journal d'audit centralisé permettant d'identifier qui a généré ou modifié un document.</a:t>
            </a:r>
          </a:p>
          <a:p>
            <a:pPr>
              <a:spcAft>
                <a:spcPts val="800"/>
              </a:spcAft>
            </a:pPr>
            <a:r>
              <a:rPr sz="1300" b="1">
                <a:solidFill>
                  <a:srgbClr val="28283C"/>
                </a:solidFill>
              </a:rPr>
              <a:t>Fragilité Technique  :</a:t>
            </a:r>
            <a:r>
              <a:rPr sz="1300">
                <a:solidFill>
                  <a:srgbClr val="28283C"/>
                </a:solidFill>
              </a:rPr>
              <a:t> Bloquages fréquents lors du traitement de classeurs complexes comportant plusieurs dizaines d'onglets.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9144000" cy="640080"/>
          </a:xfrm>
          <a:prstGeom prst="rect">
            <a:avLst/>
          </a:prstGeom>
          <a:noFill/>
        </p:spPr>
        <p:txBody>
          <a:bodyPr wrap="square">
            <a:spAutoFit/>
          </a:bodyPr>
          <a:lstStyle/>
          <a:p>
            <a:r>
              <a:rPr sz="2000" b="1">
                <a:solidFill>
                  <a:srgbClr val="7C5DD4"/>
                </a:solidFill>
              </a:rPr>
              <a:t>05  </a:t>
            </a:r>
            <a:r>
              <a:rPr sz="2200" b="1">
                <a:solidFill>
                  <a:srgbClr val="FFFFFF"/>
                </a:solidFill>
              </a:rPr>
              <a:t>LIMITE DU PROJET</a:t>
            </a:r>
          </a:p>
        </p:txBody>
      </p:sp>
      <p:sp>
        <p:nvSpPr>
          <p:cNvPr id="5" name="TextBox 4"/>
          <p:cNvSpPr txBox="1"/>
          <p:nvPr/>
        </p:nvSpPr>
        <p:spPr>
          <a:xfrm>
            <a:off x="8229600" y="320040"/>
            <a:ext cx="3474720" cy="365760"/>
          </a:xfrm>
          <a:prstGeom prst="rect">
            <a:avLst/>
          </a:prstGeom>
          <a:noFill/>
        </p:spPr>
        <p:txBody>
          <a:bodyPr wrap="none">
            <a:spAutoFit/>
          </a:bodyPr>
          <a:lstStyle/>
          <a:p>
            <a:pPr algn="r"/>
            <a:r>
              <a:rPr sz="1200">
                <a:solidFill>
                  <a:srgbClr val="7C5DD4"/>
                </a:solidFill>
              </a:rPr>
              <a:t>ANTIC • ENSPY (Polytechnique)</a:t>
            </a:r>
          </a:p>
        </p:txBody>
      </p:sp>
      <p:sp>
        <p:nvSpPr>
          <p:cNvPr id="6" name="Rounded Rectangle 5"/>
          <p:cNvSpPr/>
          <p:nvPr/>
        </p:nvSpPr>
        <p:spPr>
          <a:xfrm>
            <a:off x="548640" y="1463040"/>
            <a:ext cx="5303520" cy="4754880"/>
          </a:xfrm>
          <a:prstGeom prst="roundRect">
            <a:avLst/>
          </a:prstGeom>
          <a:solidFill>
            <a:srgbClr val="F0FDF4"/>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463040"/>
            <a:ext cx="5303520" cy="109728"/>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4846320" cy="4297680"/>
          </a:xfrm>
          <a:prstGeom prst="rect">
            <a:avLst/>
          </a:prstGeom>
          <a:noFill/>
        </p:spPr>
        <p:txBody>
          <a:bodyPr wrap="square">
            <a:spAutoFit/>
          </a:bodyPr>
          <a:lstStyle/>
          <a:p>
            <a:pPr>
              <a:spcAft>
                <a:spcPts val="1000"/>
              </a:spcAft>
            </a:pPr>
            <a:r>
              <a:rPr sz="1600" b="1">
                <a:solidFill>
                  <a:srgbClr val="22C55E"/>
                </a:solidFill>
              </a:rPr>
              <a:t>Inclus dans le Périmètre Applicatif</a:t>
            </a:r>
          </a:p>
          <a:p>
            <a:pPr>
              <a:spcAft>
                <a:spcPts val="800"/>
              </a:spcAft>
            </a:pPr>
            <a:r>
              <a:rPr sz="1300" b="1">
                <a:solidFill>
                  <a:srgbClr val="28283C"/>
                </a:solidFill>
              </a:rPr>
              <a:t>Authentification Sécurisée  :</a:t>
            </a:r>
            <a:r>
              <a:rPr sz="1300">
                <a:solidFill>
                  <a:srgbClr val="28283C"/>
                </a:solidFill>
              </a:rPr>
              <a:t> Accès strictement réservé aux agents enregistrés dans l'annuaire de l'agence.</a:t>
            </a:r>
          </a:p>
          <a:p>
            <a:pPr>
              <a:spcAft>
                <a:spcPts val="800"/>
              </a:spcAft>
            </a:pPr>
            <a:r>
              <a:rPr sz="1300" b="1">
                <a:solidFill>
                  <a:srgbClr val="28283C"/>
                </a:solidFill>
              </a:rPr>
              <a:t>Formats Acceptés  :</a:t>
            </a:r>
            <a:r>
              <a:rPr sz="1300">
                <a:solidFill>
                  <a:srgbClr val="28283C"/>
                </a:solidFill>
              </a:rPr>
              <a:t> Traitement exclusif des classeurs aux formats .xlsx et .xls jusqu'à un plafond de 10 Mo.</a:t>
            </a:r>
          </a:p>
          <a:p>
            <a:pPr>
              <a:spcAft>
                <a:spcPts val="800"/>
              </a:spcAft>
            </a:pPr>
            <a:r>
              <a:rPr sz="1300" b="1">
                <a:solidFill>
                  <a:srgbClr val="28283C"/>
                </a:solidFill>
              </a:rPr>
              <a:t>Transposition Normée  :</a:t>
            </a:r>
            <a:r>
              <a:rPr sz="1300">
                <a:solidFill>
                  <a:srgbClr val="28283C"/>
                </a:solidFill>
              </a:rPr>
              <a:t> Conversion de 1 onglet Excel vers 1 chapitre distinct au format Word.</a:t>
            </a:r>
          </a:p>
          <a:p>
            <a:pPr>
              <a:spcAft>
                <a:spcPts val="800"/>
              </a:spcAft>
            </a:pPr>
            <a:r>
              <a:rPr sz="1300" b="1">
                <a:solidFill>
                  <a:srgbClr val="28283C"/>
                </a:solidFill>
              </a:rPr>
              <a:t>Persistance Sécurisée  :</a:t>
            </a:r>
            <a:r>
              <a:rPr sz="1300">
                <a:solidFill>
                  <a:srgbClr val="28283C"/>
                </a:solidFill>
              </a:rPr>
              <a:t> Chiffrement AES-256 sur disque, ré-téléchargement dans l'historique et purge sous 7 jours.</a:t>
            </a:r>
          </a:p>
        </p:txBody>
      </p:sp>
      <p:sp>
        <p:nvSpPr>
          <p:cNvPr id="9" name="Rounded Rectangle 8"/>
          <p:cNvSpPr/>
          <p:nvPr/>
        </p:nvSpPr>
        <p:spPr>
          <a:xfrm>
            <a:off x="6217920" y="1463040"/>
            <a:ext cx="5303520" cy="4754880"/>
          </a:xfrm>
          <a:prstGeom prst="roundRect">
            <a:avLst/>
          </a:prstGeom>
          <a:solidFill>
            <a:srgbClr val="FEF2F2"/>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463040"/>
            <a:ext cx="5303520" cy="109728"/>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91640"/>
            <a:ext cx="4846320" cy="4297680"/>
          </a:xfrm>
          <a:prstGeom prst="rect">
            <a:avLst/>
          </a:prstGeom>
          <a:noFill/>
        </p:spPr>
        <p:txBody>
          <a:bodyPr wrap="square">
            <a:spAutoFit/>
          </a:bodyPr>
          <a:lstStyle/>
          <a:p>
            <a:pPr>
              <a:spcAft>
                <a:spcPts val="1000"/>
              </a:spcAft>
            </a:pPr>
            <a:r>
              <a:rPr sz="1600" b="1">
                <a:solidFill>
                  <a:srgbClr val="EF4444"/>
                </a:solidFill>
              </a:rPr>
              <a:t>Exclus du Périmètre Applicatif</a:t>
            </a:r>
          </a:p>
          <a:p>
            <a:pPr>
              <a:spcAft>
                <a:spcPts val="800"/>
              </a:spcAft>
            </a:pPr>
            <a:r>
              <a:rPr sz="1300" b="1">
                <a:solidFill>
                  <a:srgbClr val="28283C"/>
                </a:solidFill>
              </a:rPr>
              <a:t>Édition Initiale  :</a:t>
            </a:r>
            <a:r>
              <a:rPr sz="1300">
                <a:solidFill>
                  <a:srgbClr val="28283C"/>
                </a:solidFill>
              </a:rPr>
              <a:t> La plateforme n'a pas vocation à modifier les formules mathématiques ou les valeurs contenues dans le fichier source.</a:t>
            </a:r>
          </a:p>
          <a:p>
            <a:pPr>
              <a:spcAft>
                <a:spcPts val="800"/>
              </a:spcAft>
            </a:pPr>
            <a:r>
              <a:rPr sz="1300" b="1">
                <a:solidFill>
                  <a:srgbClr val="28283C"/>
                </a:solidFill>
              </a:rPr>
              <a:t>Archivage Perpétuel  :</a:t>
            </a:r>
            <a:r>
              <a:rPr sz="1300">
                <a:solidFill>
                  <a:srgbClr val="28283C"/>
                </a:solidFill>
              </a:rPr>
              <a:t> L'application n'est pas une GED d'archivage à long terme (les fichiers expirent après la période de rétention).</a:t>
            </a:r>
          </a:p>
          <a:p>
            <a:pPr>
              <a:spcAft>
                <a:spcPts val="800"/>
              </a:spcAft>
            </a:pPr>
            <a:r>
              <a:rPr sz="1300" b="1">
                <a:solidFill>
                  <a:srgbClr val="28283C"/>
                </a:solidFill>
              </a:rPr>
              <a:t>Exécution de Macros  :</a:t>
            </a:r>
            <a:r>
              <a:rPr sz="1300">
                <a:solidFill>
                  <a:srgbClr val="28283C"/>
                </a:solidFill>
              </a:rPr>
              <a:t> Neutralisation stricte de tout code VBA ou formule externe malicieuse présente dans le fichier Excel.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9144000" cy="640080"/>
          </a:xfrm>
          <a:prstGeom prst="rect">
            <a:avLst/>
          </a:prstGeom>
          <a:noFill/>
        </p:spPr>
        <p:txBody>
          <a:bodyPr wrap="square">
            <a:spAutoFit/>
          </a:bodyPr>
          <a:lstStyle/>
          <a:p>
            <a:r>
              <a:rPr sz="2000" b="1">
                <a:solidFill>
                  <a:srgbClr val="7C5DD4"/>
                </a:solidFill>
              </a:rPr>
              <a:t>06  </a:t>
            </a:r>
            <a:r>
              <a:rPr sz="2200" b="1">
                <a:solidFill>
                  <a:srgbClr val="FFFFFF"/>
                </a:solidFill>
              </a:rPr>
              <a:t>DESCRIPTION DE LA SOLUTION</a:t>
            </a:r>
          </a:p>
        </p:txBody>
      </p:sp>
      <p:sp>
        <p:nvSpPr>
          <p:cNvPr id="5" name="TextBox 4"/>
          <p:cNvSpPr txBox="1"/>
          <p:nvPr/>
        </p:nvSpPr>
        <p:spPr>
          <a:xfrm>
            <a:off x="8229600" y="320040"/>
            <a:ext cx="3474720" cy="365760"/>
          </a:xfrm>
          <a:prstGeom prst="rect">
            <a:avLst/>
          </a:prstGeom>
          <a:noFill/>
        </p:spPr>
        <p:txBody>
          <a:bodyPr wrap="none">
            <a:spAutoFit/>
          </a:bodyPr>
          <a:lstStyle/>
          <a:p>
            <a:pPr algn="r"/>
            <a:r>
              <a:rPr sz="1200">
                <a:solidFill>
                  <a:srgbClr val="7C5DD4"/>
                </a:solidFill>
              </a:rPr>
              <a:t>ANTIC • ENSPY (Polytechnique)</a:t>
            </a:r>
          </a:p>
        </p:txBody>
      </p:sp>
      <p:sp>
        <p:nvSpPr>
          <p:cNvPr id="6" name="Rounded Rectangle 5"/>
          <p:cNvSpPr/>
          <p:nvPr/>
        </p:nvSpPr>
        <p:spPr>
          <a:xfrm>
            <a:off x="548640" y="1463040"/>
            <a:ext cx="530352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463040"/>
            <a:ext cx="5303520" cy="109728"/>
          </a:xfrm>
          <a:prstGeom prst="round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4846320" cy="4297680"/>
          </a:xfrm>
          <a:prstGeom prst="rect">
            <a:avLst/>
          </a:prstGeom>
          <a:noFill/>
        </p:spPr>
        <p:txBody>
          <a:bodyPr wrap="square">
            <a:spAutoFit/>
          </a:bodyPr>
          <a:lstStyle/>
          <a:p>
            <a:pPr>
              <a:spcAft>
                <a:spcPts val="1000"/>
              </a:spcAft>
            </a:pPr>
            <a:r>
              <a:rPr sz="1600" b="1">
                <a:solidFill>
                  <a:srgbClr val="4C3194"/>
                </a:solidFill>
              </a:rPr>
              <a:t>Concept Général de la Plateforme Web</a:t>
            </a:r>
          </a:p>
          <a:p>
            <a:pPr>
              <a:spcAft>
                <a:spcPts val="800"/>
              </a:spcAft>
            </a:pPr>
            <a:r>
              <a:rPr sz="1300" b="1">
                <a:solidFill>
                  <a:srgbClr val="28283C"/>
                </a:solidFill>
              </a:rPr>
              <a:t>Architecture Centralisée  :</a:t>
            </a:r>
            <a:r>
              <a:rPr sz="1300">
                <a:solidFill>
                  <a:srgbClr val="28283C"/>
                </a:solidFill>
              </a:rPr>
              <a:t> Application web d'entreprise accessible via l'intranet institutionnel de l'ANTIC.</a:t>
            </a:r>
          </a:p>
          <a:p>
            <a:pPr>
              <a:spcAft>
                <a:spcPts val="800"/>
              </a:spcAft>
            </a:pPr>
            <a:r>
              <a:rPr sz="1300" b="1">
                <a:solidFill>
                  <a:srgbClr val="28283C"/>
                </a:solidFill>
              </a:rPr>
              <a:t>Interface Moderne  :</a:t>
            </a:r>
            <a:r>
              <a:rPr sz="1300">
                <a:solidFill>
                  <a:srgbClr val="28283C"/>
                </a:solidFill>
              </a:rPr>
              <a:t> Application à Page Unique (SPA) offrant un espace de glisser-déposer (Drag &amp; Drop) fluide.</a:t>
            </a:r>
          </a:p>
          <a:p>
            <a:pPr>
              <a:spcAft>
                <a:spcPts val="800"/>
              </a:spcAft>
            </a:pPr>
            <a:r>
              <a:rPr sz="1300" b="1">
                <a:solidFill>
                  <a:srgbClr val="28283C"/>
                </a:solidFill>
              </a:rPr>
              <a:t>Persistance Sécurisée (AES-256)  :</a:t>
            </a:r>
            <a:r>
              <a:rPr sz="1300">
                <a:solidFill>
                  <a:srgbClr val="28283C"/>
                </a:solidFill>
              </a:rPr>
              <a:t> Stockage des documents convertis chiffré au repos avec accès strict et purge automatique configurable.</a:t>
            </a:r>
          </a:p>
        </p:txBody>
      </p:sp>
      <p:sp>
        <p:nvSpPr>
          <p:cNvPr id="9" name="Rounded Rectangle 8"/>
          <p:cNvSpPr/>
          <p:nvPr/>
        </p:nvSpPr>
        <p:spPr>
          <a:xfrm>
            <a:off x="6217920" y="1463040"/>
            <a:ext cx="530352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463040"/>
            <a:ext cx="5303520" cy="109728"/>
          </a:xfrm>
          <a:prstGeom prst="round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91640"/>
            <a:ext cx="4846320" cy="4297680"/>
          </a:xfrm>
          <a:prstGeom prst="rect">
            <a:avLst/>
          </a:prstGeom>
          <a:noFill/>
        </p:spPr>
        <p:txBody>
          <a:bodyPr wrap="square">
            <a:spAutoFit/>
          </a:bodyPr>
          <a:lstStyle/>
          <a:p>
            <a:pPr>
              <a:spcAft>
                <a:spcPts val="1000"/>
              </a:spcAft>
            </a:pPr>
            <a:r>
              <a:rPr sz="1600" b="1">
                <a:solidFill>
                  <a:srgbClr val="7C5DD4"/>
                </a:solidFill>
              </a:rPr>
              <a:t>Parcours Utilisateur Simplifié</a:t>
            </a:r>
          </a:p>
          <a:p>
            <a:pPr>
              <a:spcAft>
                <a:spcPts val="800"/>
              </a:spcAft>
            </a:pPr>
            <a:r>
              <a:rPr sz="1300" b="1">
                <a:solidFill>
                  <a:srgbClr val="28283C"/>
                </a:solidFill>
              </a:rPr>
              <a:t>1. Connexion  :</a:t>
            </a:r>
            <a:r>
              <a:rPr sz="1300">
                <a:solidFill>
                  <a:srgbClr val="28283C"/>
                </a:solidFill>
              </a:rPr>
              <a:t> L'opérateur s'authentifie avec ses identifiants institutionnels pour obtenir un jeton JWT sécurisé.</a:t>
            </a:r>
          </a:p>
          <a:p>
            <a:pPr>
              <a:spcAft>
                <a:spcPts val="800"/>
              </a:spcAft>
            </a:pPr>
            <a:r>
              <a:rPr sz="1300" b="1">
                <a:solidFill>
                  <a:srgbClr val="28283C"/>
                </a:solidFill>
              </a:rPr>
              <a:t>2. Dépôt  :</a:t>
            </a:r>
            <a:r>
              <a:rPr sz="1300">
                <a:solidFill>
                  <a:srgbClr val="28283C"/>
                </a:solidFill>
              </a:rPr>
              <a:t> Soumission directe du classeur Excel par un simple mouvement de glisser-déposer sur l'interface.</a:t>
            </a:r>
          </a:p>
          <a:p>
            <a:pPr>
              <a:spcAft>
                <a:spcPts val="800"/>
              </a:spcAft>
            </a:pPr>
            <a:r>
              <a:rPr sz="1300" b="1">
                <a:solidFill>
                  <a:srgbClr val="28283C"/>
                </a:solidFill>
              </a:rPr>
              <a:t>3. Restitution &amp; Historique  :</a:t>
            </a:r>
            <a:r>
              <a:rPr sz="1300">
                <a:solidFill>
                  <a:srgbClr val="28283C"/>
                </a:solidFill>
              </a:rPr>
              <a:t> Conversion rapide, téléchargement immédiat et ré-accès ultérieur possible via le tableau de bord.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9144000" cy="640080"/>
          </a:xfrm>
          <a:prstGeom prst="rect">
            <a:avLst/>
          </a:prstGeom>
          <a:noFill/>
        </p:spPr>
        <p:txBody>
          <a:bodyPr wrap="square">
            <a:spAutoFit/>
          </a:bodyPr>
          <a:lstStyle/>
          <a:p>
            <a:r>
              <a:rPr sz="2000" b="1">
                <a:solidFill>
                  <a:srgbClr val="7C5DD4"/>
                </a:solidFill>
              </a:rPr>
              <a:t>07  </a:t>
            </a:r>
            <a:r>
              <a:rPr sz="2200" b="1">
                <a:solidFill>
                  <a:srgbClr val="FFFFFF"/>
                </a:solidFill>
              </a:rPr>
              <a:t>CHOIX TECHNOLOGIQUES RETENUS</a:t>
            </a:r>
          </a:p>
        </p:txBody>
      </p:sp>
      <p:sp>
        <p:nvSpPr>
          <p:cNvPr id="5" name="TextBox 4"/>
          <p:cNvSpPr txBox="1"/>
          <p:nvPr/>
        </p:nvSpPr>
        <p:spPr>
          <a:xfrm>
            <a:off x="8229600" y="320040"/>
            <a:ext cx="3474720" cy="365760"/>
          </a:xfrm>
          <a:prstGeom prst="rect">
            <a:avLst/>
          </a:prstGeom>
          <a:noFill/>
        </p:spPr>
        <p:txBody>
          <a:bodyPr wrap="none">
            <a:spAutoFit/>
          </a:bodyPr>
          <a:lstStyle/>
          <a:p>
            <a:pPr algn="r"/>
            <a:r>
              <a:rPr sz="1200">
                <a:solidFill>
                  <a:srgbClr val="7C5DD4"/>
                </a:solidFill>
              </a:rPr>
              <a:t>ANTIC • ENSPY (Polytechnique)</a:t>
            </a:r>
          </a:p>
        </p:txBody>
      </p:sp>
      <p:sp>
        <p:nvSpPr>
          <p:cNvPr id="6" name="Rounded Rectangle 5"/>
          <p:cNvSpPr/>
          <p:nvPr/>
        </p:nvSpPr>
        <p:spPr>
          <a:xfrm>
            <a:off x="548640" y="1463040"/>
            <a:ext cx="347472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463040"/>
            <a:ext cx="3474720" cy="109728"/>
          </a:xfrm>
          <a:prstGeom prst="round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3017520" cy="4297680"/>
          </a:xfrm>
          <a:prstGeom prst="rect">
            <a:avLst/>
          </a:prstGeom>
          <a:noFill/>
        </p:spPr>
        <p:txBody>
          <a:bodyPr wrap="square">
            <a:spAutoFit/>
          </a:bodyPr>
          <a:lstStyle/>
          <a:p>
            <a:pPr>
              <a:spcAft>
                <a:spcPts val="1000"/>
              </a:spcAft>
            </a:pPr>
            <a:r>
              <a:rPr sz="1600" b="1">
                <a:solidFill>
                  <a:srgbClr val="4C3194"/>
                </a:solidFill>
              </a:rPr>
              <a:t>SOCLE BACKEND</a:t>
            </a:r>
          </a:p>
          <a:p>
            <a:pPr>
              <a:spcAft>
                <a:spcPts val="800"/>
              </a:spcAft>
            </a:pPr>
            <a:r>
              <a:rPr sz="1300" b="1">
                <a:solidFill>
                  <a:srgbClr val="28283C"/>
                </a:solidFill>
              </a:rPr>
              <a:t>Technologie  :</a:t>
            </a:r>
            <a:r>
              <a:rPr sz="1300">
                <a:solidFill>
                  <a:srgbClr val="28283C"/>
                </a:solidFill>
              </a:rPr>
              <a:t> Java 17 &amp; Spring Boot 3.</a:t>
            </a:r>
          </a:p>
          <a:p>
            <a:pPr>
              <a:spcAft>
                <a:spcPts val="800"/>
              </a:spcAft>
            </a:pPr>
            <a:r>
              <a:rPr sz="1300" b="1">
                <a:solidFill>
                  <a:srgbClr val="28283C"/>
                </a:solidFill>
              </a:rPr>
              <a:t>Sécurité  :</a:t>
            </a:r>
            <a:r>
              <a:rPr sz="1300">
                <a:solidFill>
                  <a:srgbClr val="28283C"/>
                </a:solidFill>
              </a:rPr>
              <a:t> Spring Security avec validation stateless par jetons JWT.</a:t>
            </a:r>
          </a:p>
          <a:p>
            <a:pPr>
              <a:spcAft>
                <a:spcPts val="800"/>
              </a:spcAft>
            </a:pPr>
            <a:r>
              <a:rPr sz="1300" b="1">
                <a:solidFill>
                  <a:srgbClr val="28283C"/>
                </a:solidFill>
              </a:rPr>
              <a:t>Génération Documentaire  :</a:t>
            </a:r>
            <a:r>
              <a:rPr sz="1300">
                <a:solidFill>
                  <a:srgbClr val="28283C"/>
                </a:solidFill>
              </a:rPr>
              <a:t> Bibliothèque d'entreprise Apache POI (modules XSSF et XWPF).</a:t>
            </a:r>
          </a:p>
        </p:txBody>
      </p:sp>
      <p:sp>
        <p:nvSpPr>
          <p:cNvPr id="9" name="Rounded Rectangle 8"/>
          <p:cNvSpPr/>
          <p:nvPr/>
        </p:nvSpPr>
        <p:spPr>
          <a:xfrm>
            <a:off x="4297680" y="1463040"/>
            <a:ext cx="347472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80" y="1463040"/>
            <a:ext cx="3474720" cy="109728"/>
          </a:xfrm>
          <a:prstGeom prst="round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691640"/>
            <a:ext cx="3017520" cy="4297680"/>
          </a:xfrm>
          <a:prstGeom prst="rect">
            <a:avLst/>
          </a:prstGeom>
          <a:noFill/>
        </p:spPr>
        <p:txBody>
          <a:bodyPr wrap="square">
            <a:spAutoFit/>
          </a:bodyPr>
          <a:lstStyle/>
          <a:p>
            <a:pPr>
              <a:spcAft>
                <a:spcPts val="1000"/>
              </a:spcAft>
            </a:pPr>
            <a:r>
              <a:rPr sz="1600" b="1">
                <a:solidFill>
                  <a:srgbClr val="7C5DD4"/>
                </a:solidFill>
              </a:rPr>
              <a:t>INTERFACE FRONTEND</a:t>
            </a:r>
          </a:p>
          <a:p>
            <a:pPr>
              <a:spcAft>
                <a:spcPts val="800"/>
              </a:spcAft>
            </a:pPr>
            <a:r>
              <a:rPr sz="1300" b="1">
                <a:solidFill>
                  <a:srgbClr val="28283C"/>
                </a:solidFill>
              </a:rPr>
              <a:t>Technologie  :</a:t>
            </a:r>
            <a:r>
              <a:rPr sz="1300">
                <a:solidFill>
                  <a:srgbClr val="28283C"/>
                </a:solidFill>
              </a:rPr>
              <a:t> React.js 18 avec le moteur d'assemblage Vite.</a:t>
            </a:r>
          </a:p>
          <a:p>
            <a:pPr>
              <a:spcAft>
                <a:spcPts val="800"/>
              </a:spcAft>
            </a:pPr>
            <a:r>
              <a:rPr sz="1300" b="1">
                <a:solidFill>
                  <a:srgbClr val="28283C"/>
                </a:solidFill>
              </a:rPr>
              <a:t>Composants  :</a:t>
            </a:r>
            <a:r>
              <a:rPr sz="1300">
                <a:solidFill>
                  <a:srgbClr val="28283C"/>
                </a:solidFill>
              </a:rPr>
              <a:t> Interface réactive SPA, zone de Drag &amp; Drop, suivi de progression.</a:t>
            </a:r>
          </a:p>
          <a:p>
            <a:pPr>
              <a:spcAft>
                <a:spcPts val="800"/>
              </a:spcAft>
            </a:pPr>
            <a:r>
              <a:rPr sz="1300" b="1">
                <a:solidFill>
                  <a:srgbClr val="28283C"/>
                </a:solidFill>
              </a:rPr>
              <a:t>Communication API  :</a:t>
            </a:r>
            <a:r>
              <a:rPr sz="1300">
                <a:solidFill>
                  <a:srgbClr val="28283C"/>
                </a:solidFill>
              </a:rPr>
              <a:t> Client Axios sécurisé avec intercepteurs automatiques de jetons.</a:t>
            </a:r>
          </a:p>
        </p:txBody>
      </p:sp>
      <p:sp>
        <p:nvSpPr>
          <p:cNvPr id="12" name="Rounded Rectangle 11"/>
          <p:cNvSpPr/>
          <p:nvPr/>
        </p:nvSpPr>
        <p:spPr>
          <a:xfrm>
            <a:off x="8046720" y="1463040"/>
            <a:ext cx="356616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20" y="1463040"/>
            <a:ext cx="3566160" cy="109728"/>
          </a:xfrm>
          <a:prstGeom prst="round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691640"/>
            <a:ext cx="3108960" cy="4297680"/>
          </a:xfrm>
          <a:prstGeom prst="rect">
            <a:avLst/>
          </a:prstGeom>
          <a:noFill/>
        </p:spPr>
        <p:txBody>
          <a:bodyPr wrap="square">
            <a:spAutoFit/>
          </a:bodyPr>
          <a:lstStyle/>
          <a:p>
            <a:pPr>
              <a:spcAft>
                <a:spcPts val="1000"/>
              </a:spcAft>
            </a:pPr>
            <a:r>
              <a:rPr sz="1600" b="1">
                <a:solidFill>
                  <a:srgbClr val="4C3194"/>
                </a:solidFill>
              </a:rPr>
              <a:t>PERSISTANCE &amp; INFRASTRUCTURE</a:t>
            </a:r>
          </a:p>
          <a:p>
            <a:pPr>
              <a:spcAft>
                <a:spcPts val="800"/>
              </a:spcAft>
            </a:pPr>
            <a:r>
              <a:rPr sz="1300" b="1">
                <a:solidFill>
                  <a:srgbClr val="28283C"/>
                </a:solidFill>
              </a:rPr>
              <a:t>Base de Données  :</a:t>
            </a:r>
            <a:r>
              <a:rPr sz="1300">
                <a:solidFill>
                  <a:srgbClr val="28283C"/>
                </a:solidFill>
              </a:rPr>
              <a:t> PostgreSQL 15 pour la gestion des utilisateurs et l'audit immuable SHA-256.</a:t>
            </a:r>
          </a:p>
          <a:p>
            <a:pPr>
              <a:spcAft>
                <a:spcPts val="800"/>
              </a:spcAft>
            </a:pPr>
            <a:r>
              <a:rPr sz="1300" b="1">
                <a:solidFill>
                  <a:srgbClr val="28283C"/>
                </a:solidFill>
              </a:rPr>
              <a:t>Serveur Web  :</a:t>
            </a:r>
            <a:r>
              <a:rPr sz="1300">
                <a:solidFill>
                  <a:srgbClr val="28283C"/>
                </a:solidFill>
              </a:rPr>
              <a:t> Nginx assurant la terminaison HTTPS/TLS et la sécurité réseau.</a:t>
            </a:r>
          </a:p>
          <a:p>
            <a:pPr>
              <a:spcAft>
                <a:spcPts val="800"/>
              </a:spcAft>
            </a:pPr>
            <a:r>
              <a:rPr sz="1300" b="1">
                <a:solidFill>
                  <a:srgbClr val="28283C"/>
                </a:solidFill>
              </a:rPr>
              <a:t>Déploiement  :</a:t>
            </a:r>
            <a:r>
              <a:rPr sz="1300">
                <a:solidFill>
                  <a:srgbClr val="28283C"/>
                </a:solidFill>
              </a:rPr>
              <a:t> Conteneurs Docker et Docker Compose pour une installation simplifiée.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9144000" cy="640080"/>
          </a:xfrm>
          <a:prstGeom prst="rect">
            <a:avLst/>
          </a:prstGeom>
          <a:noFill/>
        </p:spPr>
        <p:txBody>
          <a:bodyPr wrap="square">
            <a:spAutoFit/>
          </a:bodyPr>
          <a:lstStyle/>
          <a:p>
            <a:r>
              <a:rPr sz="2000" b="1">
                <a:solidFill>
                  <a:srgbClr val="7C5DD4"/>
                </a:solidFill>
              </a:rPr>
              <a:t>08  </a:t>
            </a:r>
            <a:r>
              <a:rPr sz="2200" b="1">
                <a:solidFill>
                  <a:srgbClr val="FFFFFF"/>
                </a:solidFill>
              </a:rPr>
              <a:t>ANALYSE DES TECHNOLOGIES</a:t>
            </a:r>
          </a:p>
        </p:txBody>
      </p:sp>
      <p:sp>
        <p:nvSpPr>
          <p:cNvPr id="5" name="TextBox 4"/>
          <p:cNvSpPr txBox="1"/>
          <p:nvPr/>
        </p:nvSpPr>
        <p:spPr>
          <a:xfrm>
            <a:off x="8229600" y="320040"/>
            <a:ext cx="3474720" cy="365760"/>
          </a:xfrm>
          <a:prstGeom prst="rect">
            <a:avLst/>
          </a:prstGeom>
          <a:noFill/>
        </p:spPr>
        <p:txBody>
          <a:bodyPr wrap="none">
            <a:spAutoFit/>
          </a:bodyPr>
          <a:lstStyle/>
          <a:p>
            <a:pPr algn="r"/>
            <a:r>
              <a:rPr sz="1200">
                <a:solidFill>
                  <a:srgbClr val="7C5DD4"/>
                </a:solidFill>
              </a:rPr>
              <a:t>ANTIC • ENSPY (Polytechnique)</a:t>
            </a:r>
          </a:p>
        </p:txBody>
      </p:sp>
      <p:sp>
        <p:nvSpPr>
          <p:cNvPr id="6" name="Rounded Rectangle 5"/>
          <p:cNvSpPr/>
          <p:nvPr/>
        </p:nvSpPr>
        <p:spPr>
          <a:xfrm>
            <a:off x="548640" y="1463040"/>
            <a:ext cx="530352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463040"/>
            <a:ext cx="5303520" cy="109728"/>
          </a:xfrm>
          <a:prstGeom prst="round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4846320" cy="4297680"/>
          </a:xfrm>
          <a:prstGeom prst="rect">
            <a:avLst/>
          </a:prstGeom>
          <a:noFill/>
        </p:spPr>
        <p:txBody>
          <a:bodyPr wrap="square">
            <a:spAutoFit/>
          </a:bodyPr>
          <a:lstStyle/>
          <a:p>
            <a:pPr>
              <a:spcAft>
                <a:spcPts val="1000"/>
              </a:spcAft>
            </a:pPr>
            <a:r>
              <a:rPr sz="1600" b="1">
                <a:solidFill>
                  <a:srgbClr val="4C3194"/>
                </a:solidFill>
              </a:rPr>
              <a:t>Évaluation Comparative du Socle Backend</a:t>
            </a:r>
          </a:p>
          <a:p>
            <a:pPr>
              <a:spcAft>
                <a:spcPts val="800"/>
              </a:spcAft>
            </a:pPr>
            <a:r>
              <a:rPr sz="1300" b="1">
                <a:solidFill>
                  <a:srgbClr val="28283C"/>
                </a:solidFill>
              </a:rPr>
              <a:t>Node.js / Express  :</a:t>
            </a:r>
            <a:r>
              <a:rPr sz="1300">
                <a:solidFill>
                  <a:srgbClr val="28283C"/>
                </a:solidFill>
              </a:rPr>
              <a:t> Architecture monothread présentant des risques de blocage d'E/S lors de la conversion de classeurs volumineux [REJETÉ].</a:t>
            </a:r>
          </a:p>
          <a:p>
            <a:pPr>
              <a:spcAft>
                <a:spcPts val="800"/>
              </a:spcAft>
            </a:pPr>
            <a:r>
              <a:rPr sz="1300" b="1">
                <a:solidFill>
                  <a:srgbClr val="28283C"/>
                </a:solidFill>
              </a:rPr>
              <a:t>Python / FastAPI  :</a:t>
            </a:r>
            <a:r>
              <a:rPr sz="1300">
                <a:solidFill>
                  <a:srgbClr val="28283C"/>
                </a:solidFill>
              </a:rPr>
              <a:t> Très adapté au calcul scientifique mais moins performant pour la manipulation avancée du XML Microsoft Office [ÉCARTÉ].</a:t>
            </a:r>
          </a:p>
          <a:p>
            <a:pPr>
              <a:spcAft>
                <a:spcPts val="800"/>
              </a:spcAft>
            </a:pPr>
            <a:r>
              <a:rPr sz="1300" b="1">
                <a:solidFill>
                  <a:srgbClr val="28283C"/>
                </a:solidFill>
              </a:rPr>
              <a:t>Java Spring Boot 3  :</a:t>
            </a:r>
            <a:r>
              <a:rPr sz="1300">
                <a:solidFill>
                  <a:srgbClr val="28283C"/>
                </a:solidFill>
              </a:rPr>
              <a:t> Solution retenue pour sa puissance multithread, son niveau de sécurité d'État et la maturité d'Apache POI [RETENU].</a:t>
            </a:r>
          </a:p>
        </p:txBody>
      </p:sp>
      <p:sp>
        <p:nvSpPr>
          <p:cNvPr id="9" name="Rounded Rectangle 8"/>
          <p:cNvSpPr/>
          <p:nvPr/>
        </p:nvSpPr>
        <p:spPr>
          <a:xfrm>
            <a:off x="6217920" y="1463040"/>
            <a:ext cx="530352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463040"/>
            <a:ext cx="5303520" cy="109728"/>
          </a:xfrm>
          <a:prstGeom prst="round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91640"/>
            <a:ext cx="4846320" cy="4297680"/>
          </a:xfrm>
          <a:prstGeom prst="rect">
            <a:avLst/>
          </a:prstGeom>
          <a:noFill/>
        </p:spPr>
        <p:txBody>
          <a:bodyPr wrap="square">
            <a:spAutoFit/>
          </a:bodyPr>
          <a:lstStyle/>
          <a:p>
            <a:pPr>
              <a:spcAft>
                <a:spcPts val="1000"/>
              </a:spcAft>
            </a:pPr>
            <a:r>
              <a:rPr sz="1600" b="1">
                <a:solidFill>
                  <a:srgbClr val="7C5DD4"/>
                </a:solidFill>
              </a:rPr>
              <a:t>Évaluation Comparative du Cadriciel Frontend</a:t>
            </a:r>
          </a:p>
          <a:p>
            <a:pPr>
              <a:spcAft>
                <a:spcPts val="800"/>
              </a:spcAft>
            </a:pPr>
            <a:r>
              <a:rPr sz="1300" b="1">
                <a:solidFill>
                  <a:srgbClr val="28283C"/>
                </a:solidFill>
              </a:rPr>
              <a:t>HTML / JS Statique  :</a:t>
            </a:r>
            <a:r>
              <a:rPr sz="1300">
                <a:solidFill>
                  <a:srgbClr val="28283C"/>
                </a:solidFill>
              </a:rPr>
              <a:t> Solution trop basique ne permettant pas la gestion fluide des sessions JWT ni les retours d'état réactifs [REJETÉ].</a:t>
            </a:r>
          </a:p>
          <a:p>
            <a:pPr>
              <a:spcAft>
                <a:spcPts val="800"/>
              </a:spcAft>
            </a:pPr>
            <a:r>
              <a:rPr sz="1300" b="1">
                <a:solidFill>
                  <a:srgbClr val="28283C"/>
                </a:solidFill>
              </a:rPr>
              <a:t>Angular  :</a:t>
            </a:r>
            <a:r>
              <a:rPr sz="1300">
                <a:solidFill>
                  <a:srgbClr val="28283C"/>
                </a:solidFill>
              </a:rPr>
              <a:t> Cadriciel particulièrement lourd imposant une complexité inutile pour le besoin du projet [ÉCARTÉ].</a:t>
            </a:r>
          </a:p>
          <a:p>
            <a:pPr>
              <a:spcAft>
                <a:spcPts val="800"/>
              </a:spcAft>
            </a:pPr>
            <a:r>
              <a:rPr sz="1300" b="1">
                <a:solidFill>
                  <a:srgbClr val="28283C"/>
                </a:solidFill>
              </a:rPr>
              <a:t>React.js 18 avec Vite  :</a:t>
            </a:r>
            <a:r>
              <a:rPr sz="1300">
                <a:solidFill>
                  <a:srgbClr val="28283C"/>
                </a:solidFill>
              </a:rPr>
              <a:t> Solution retenue pour la rapidité du Virtual DOM, l'ergonomie des composants et la facilité de maintenance [RETENU].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9144000" cy="640080"/>
          </a:xfrm>
          <a:prstGeom prst="rect">
            <a:avLst/>
          </a:prstGeom>
          <a:noFill/>
        </p:spPr>
        <p:txBody>
          <a:bodyPr wrap="square">
            <a:spAutoFit/>
          </a:bodyPr>
          <a:lstStyle/>
          <a:p>
            <a:r>
              <a:rPr sz="2000" b="1">
                <a:solidFill>
                  <a:srgbClr val="7C5DD4"/>
                </a:solidFill>
              </a:rPr>
              <a:t>09  </a:t>
            </a:r>
            <a:r>
              <a:rPr sz="2200" b="1">
                <a:solidFill>
                  <a:srgbClr val="FFFFFF"/>
                </a:solidFill>
              </a:rPr>
              <a:t>PRÉSENTATION DE L'ARCHITECTURE DE LA SOLUTION</a:t>
            </a:r>
          </a:p>
        </p:txBody>
      </p:sp>
      <p:sp>
        <p:nvSpPr>
          <p:cNvPr id="5" name="TextBox 4"/>
          <p:cNvSpPr txBox="1"/>
          <p:nvPr/>
        </p:nvSpPr>
        <p:spPr>
          <a:xfrm>
            <a:off x="8229600" y="320040"/>
            <a:ext cx="3474720" cy="365760"/>
          </a:xfrm>
          <a:prstGeom prst="rect">
            <a:avLst/>
          </a:prstGeom>
          <a:noFill/>
        </p:spPr>
        <p:txBody>
          <a:bodyPr wrap="none">
            <a:spAutoFit/>
          </a:bodyPr>
          <a:lstStyle/>
          <a:p>
            <a:pPr algn="r"/>
            <a:r>
              <a:rPr sz="1200">
                <a:solidFill>
                  <a:srgbClr val="7C5DD4"/>
                </a:solidFill>
              </a:rPr>
              <a:t>ANTIC • ENSPY (Polytechnique)</a:t>
            </a:r>
          </a:p>
        </p:txBody>
      </p:sp>
      <p:sp>
        <p:nvSpPr>
          <p:cNvPr id="6" name="Rounded Rectangle 5"/>
          <p:cNvSpPr/>
          <p:nvPr/>
        </p:nvSpPr>
        <p:spPr>
          <a:xfrm>
            <a:off x="548640" y="2743200"/>
            <a:ext cx="2560320" cy="2377440"/>
          </a:xfrm>
          <a:prstGeom prst="roundRect">
            <a:avLst/>
          </a:prstGeom>
          <a:solidFill>
            <a:srgbClr val="FAF9FF"/>
          </a:solidFill>
          <a:ln w="25400">
            <a:solidFill>
              <a:srgbClr val="7C5D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743200"/>
            <a:ext cx="2560320" cy="548640"/>
          </a:xfrm>
          <a:prstGeom prst="round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834640"/>
            <a:ext cx="2560320" cy="365760"/>
          </a:xfrm>
          <a:prstGeom prst="rect">
            <a:avLst/>
          </a:prstGeom>
          <a:noFill/>
        </p:spPr>
        <p:txBody>
          <a:bodyPr wrap="none">
            <a:spAutoFit/>
          </a:bodyPr>
          <a:lstStyle/>
          <a:p>
            <a:pPr algn="ctr"/>
            <a:r>
              <a:rPr sz="1300" b="1">
                <a:solidFill>
                  <a:srgbClr val="FFFFFF"/>
                </a:solidFill>
              </a:rPr>
              <a:t>INTERFACE CLIENT (SPA)</a:t>
            </a:r>
          </a:p>
        </p:txBody>
      </p:sp>
      <p:sp>
        <p:nvSpPr>
          <p:cNvPr id="9" name="TextBox 8"/>
          <p:cNvSpPr txBox="1"/>
          <p:nvPr/>
        </p:nvSpPr>
        <p:spPr>
          <a:xfrm>
            <a:off x="685800" y="3383280"/>
            <a:ext cx="2286000" cy="1645920"/>
          </a:xfrm>
          <a:prstGeom prst="rect">
            <a:avLst/>
          </a:prstGeom>
          <a:noFill/>
        </p:spPr>
        <p:txBody>
          <a:bodyPr wrap="square">
            <a:spAutoFit/>
          </a:bodyPr>
          <a:lstStyle/>
          <a:p>
            <a:r>
              <a:rPr sz="1200">
                <a:solidFill>
                  <a:srgbClr val="28283C"/>
                </a:solidFill>
              </a:rPr>
              <a:t>React.js 18 + Vite
Zone de Drag &amp; Drop
Intercepteurs Axios JWT</a:t>
            </a:r>
          </a:p>
        </p:txBody>
      </p:sp>
      <p:sp>
        <p:nvSpPr>
          <p:cNvPr id="10" name="Rounded Rectangle 9"/>
          <p:cNvSpPr/>
          <p:nvPr/>
        </p:nvSpPr>
        <p:spPr>
          <a:xfrm>
            <a:off x="3383280" y="2743200"/>
            <a:ext cx="2560320" cy="2377440"/>
          </a:xfrm>
          <a:prstGeom prst="roundRect">
            <a:avLst/>
          </a:prstGeom>
          <a:solidFill>
            <a:srgbClr val="FAF9FF"/>
          </a:solidFill>
          <a:ln w="25400">
            <a:solidFill>
              <a:srgbClr val="4C31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83280" y="2743200"/>
            <a:ext cx="2560320" cy="548640"/>
          </a:xfrm>
          <a:prstGeom prst="round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2834640"/>
            <a:ext cx="2560320" cy="365760"/>
          </a:xfrm>
          <a:prstGeom prst="rect">
            <a:avLst/>
          </a:prstGeom>
          <a:noFill/>
        </p:spPr>
        <p:txBody>
          <a:bodyPr wrap="none">
            <a:spAutoFit/>
          </a:bodyPr>
          <a:lstStyle/>
          <a:p>
            <a:pPr algn="ctr"/>
            <a:r>
              <a:rPr sz="1300" b="1">
                <a:solidFill>
                  <a:srgbClr val="FFFFFF"/>
                </a:solidFill>
              </a:rPr>
              <a:t>REVERSE PROXY</a:t>
            </a:r>
          </a:p>
        </p:txBody>
      </p:sp>
      <p:sp>
        <p:nvSpPr>
          <p:cNvPr id="13" name="TextBox 12"/>
          <p:cNvSpPr txBox="1"/>
          <p:nvPr/>
        </p:nvSpPr>
        <p:spPr>
          <a:xfrm>
            <a:off x="3520440" y="3383280"/>
            <a:ext cx="2286000" cy="1645920"/>
          </a:xfrm>
          <a:prstGeom prst="rect">
            <a:avLst/>
          </a:prstGeom>
          <a:noFill/>
        </p:spPr>
        <p:txBody>
          <a:bodyPr wrap="square">
            <a:spAutoFit/>
          </a:bodyPr>
          <a:lstStyle/>
          <a:p>
            <a:r>
              <a:rPr sz="1200">
                <a:solidFill>
                  <a:srgbClr val="28283C"/>
                </a:solidFill>
              </a:rPr>
              <a:t>Nginx Proxy
Terminaison HTTPS/TLS
Distribution des flux</a:t>
            </a:r>
          </a:p>
        </p:txBody>
      </p:sp>
      <p:sp>
        <p:nvSpPr>
          <p:cNvPr id="14" name="Rounded Rectangle 13"/>
          <p:cNvSpPr/>
          <p:nvPr/>
        </p:nvSpPr>
        <p:spPr>
          <a:xfrm>
            <a:off x="6217920" y="2743200"/>
            <a:ext cx="2560320" cy="2377440"/>
          </a:xfrm>
          <a:prstGeom prst="roundRect">
            <a:avLst/>
          </a:prstGeom>
          <a:solidFill>
            <a:srgbClr val="FAF9FF"/>
          </a:solidFill>
          <a:ln w="25400">
            <a:solidFill>
              <a:srgbClr val="7C5D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2743200"/>
            <a:ext cx="2560320" cy="548640"/>
          </a:xfrm>
          <a:prstGeom prst="round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2834640"/>
            <a:ext cx="2560320" cy="365760"/>
          </a:xfrm>
          <a:prstGeom prst="rect">
            <a:avLst/>
          </a:prstGeom>
          <a:noFill/>
        </p:spPr>
        <p:txBody>
          <a:bodyPr wrap="none">
            <a:spAutoFit/>
          </a:bodyPr>
          <a:lstStyle/>
          <a:p>
            <a:pPr algn="ctr"/>
            <a:r>
              <a:rPr sz="1300" b="1">
                <a:solidFill>
                  <a:srgbClr val="FFFFFF"/>
                </a:solidFill>
              </a:rPr>
              <a:t>CŒUR APPLICATIF</a:t>
            </a:r>
          </a:p>
        </p:txBody>
      </p:sp>
      <p:sp>
        <p:nvSpPr>
          <p:cNvPr id="17" name="TextBox 16"/>
          <p:cNvSpPr txBox="1"/>
          <p:nvPr/>
        </p:nvSpPr>
        <p:spPr>
          <a:xfrm>
            <a:off x="6355080" y="3383280"/>
            <a:ext cx="2286000" cy="1645920"/>
          </a:xfrm>
          <a:prstGeom prst="rect">
            <a:avLst/>
          </a:prstGeom>
          <a:noFill/>
        </p:spPr>
        <p:txBody>
          <a:bodyPr wrap="square">
            <a:spAutoFit/>
          </a:bodyPr>
          <a:lstStyle/>
          <a:p>
            <a:r>
              <a:rPr sz="1200">
                <a:solidFill>
                  <a:srgbClr val="28283C"/>
                </a:solidFill>
              </a:rPr>
              <a:t>Java 17 / Spring Boot 3
Moteur Apache POI
Filtre Spring Security</a:t>
            </a:r>
          </a:p>
        </p:txBody>
      </p:sp>
      <p:sp>
        <p:nvSpPr>
          <p:cNvPr id="18" name="Rounded Rectangle 17"/>
          <p:cNvSpPr/>
          <p:nvPr/>
        </p:nvSpPr>
        <p:spPr>
          <a:xfrm>
            <a:off x="9052560" y="2743200"/>
            <a:ext cx="2560320" cy="2377440"/>
          </a:xfrm>
          <a:prstGeom prst="roundRect">
            <a:avLst/>
          </a:prstGeom>
          <a:solidFill>
            <a:srgbClr val="FAF9FF"/>
          </a:solidFill>
          <a:ln w="25400">
            <a:solidFill>
              <a:srgbClr val="4C31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52560" y="2743200"/>
            <a:ext cx="2560320" cy="548640"/>
          </a:xfrm>
          <a:prstGeom prst="round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0" y="2834640"/>
            <a:ext cx="2560320" cy="365760"/>
          </a:xfrm>
          <a:prstGeom prst="rect">
            <a:avLst/>
          </a:prstGeom>
          <a:noFill/>
        </p:spPr>
        <p:txBody>
          <a:bodyPr wrap="none">
            <a:spAutoFit/>
          </a:bodyPr>
          <a:lstStyle/>
          <a:p>
            <a:pPr algn="ctr"/>
            <a:r>
              <a:rPr sz="1300" b="1">
                <a:solidFill>
                  <a:srgbClr val="FFFFFF"/>
                </a:solidFill>
              </a:rPr>
              <a:t>PERSISTANCE &amp; AUDIT</a:t>
            </a:r>
          </a:p>
        </p:txBody>
      </p:sp>
      <p:sp>
        <p:nvSpPr>
          <p:cNvPr id="21" name="TextBox 20"/>
          <p:cNvSpPr txBox="1"/>
          <p:nvPr/>
        </p:nvSpPr>
        <p:spPr>
          <a:xfrm>
            <a:off x="9189720" y="3383280"/>
            <a:ext cx="2286000" cy="1645920"/>
          </a:xfrm>
          <a:prstGeom prst="rect">
            <a:avLst/>
          </a:prstGeom>
          <a:noFill/>
        </p:spPr>
        <p:txBody>
          <a:bodyPr wrap="square">
            <a:spAutoFit/>
          </a:bodyPr>
          <a:lstStyle/>
          <a:p>
            <a:r>
              <a:rPr sz="1200">
                <a:solidFill>
                  <a:srgbClr val="28283C"/>
                </a:solidFill>
              </a:rPr>
              <a:t>Base PostgreSQL 15
Comptes Utilisateurs
Journaux SHA-256</a:t>
            </a:r>
          </a:p>
        </p:txBody>
      </p:sp>
      <p:sp>
        <p:nvSpPr>
          <p:cNvPr id="22" name="Right Arrow 21"/>
          <p:cNvSpPr/>
          <p:nvPr/>
        </p:nvSpPr>
        <p:spPr>
          <a:xfrm>
            <a:off x="3154680" y="3749039"/>
            <a:ext cx="182880" cy="365760"/>
          </a:xfrm>
          <a:prstGeom prst="rightArrow">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5989320" y="3749039"/>
            <a:ext cx="182880" cy="365760"/>
          </a:xfrm>
          <a:prstGeom prst="rightArrow">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8823960" y="3749039"/>
            <a:ext cx="182880" cy="365760"/>
          </a:xfrm>
          <a:prstGeom prst="rightArrow">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5303520"/>
            <a:ext cx="11064240" cy="10972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48640" y="5303520"/>
            <a:ext cx="11064240" cy="109728"/>
          </a:xfrm>
          <a:prstGeom prst="round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532120"/>
            <a:ext cx="10607040" cy="640080"/>
          </a:xfrm>
          <a:prstGeom prst="rect">
            <a:avLst/>
          </a:prstGeom>
          <a:noFill/>
        </p:spPr>
        <p:txBody>
          <a:bodyPr wrap="square">
            <a:spAutoFit/>
          </a:bodyPr>
          <a:lstStyle/>
          <a:p>
            <a:pPr>
              <a:spcAft>
                <a:spcPts val="1000"/>
              </a:spcAft>
            </a:pPr>
            <a:r>
              <a:rPr sz="1600" b="1">
                <a:solidFill>
                  <a:srgbClr val="4C3194"/>
                </a:solidFill>
              </a:rPr>
              <a:t>Découplage N-Tiers et Sécurité</a:t>
            </a:r>
          </a:p>
          <a:p>
            <a:pPr>
              <a:spcAft>
                <a:spcPts val="800"/>
              </a:spcAft>
            </a:pPr>
            <a:r>
              <a:rPr sz="1300" b="1">
                <a:solidFill>
                  <a:srgbClr val="28283C"/>
                </a:solidFill>
              </a:rPr>
              <a:t>Principe de Répartition  :</a:t>
            </a:r>
            <a:r>
              <a:rPr sz="1300">
                <a:solidFill>
                  <a:srgbClr val="28283C"/>
                </a:solidFill>
              </a:rPr>
              <a:t> L'interface web interagit exclusivement via des API REST chiffrées. Le serveur de base de données PostgreSQL est totalement isolé d'Internet et enregistre uniquement les empreintes d'audit sans héberger les documents originaux.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9144000" cy="640080"/>
          </a:xfrm>
          <a:prstGeom prst="rect">
            <a:avLst/>
          </a:prstGeom>
          <a:noFill/>
        </p:spPr>
        <p:txBody>
          <a:bodyPr wrap="square">
            <a:spAutoFit/>
          </a:bodyPr>
          <a:lstStyle/>
          <a:p>
            <a:r>
              <a:rPr sz="2000" b="1">
                <a:solidFill>
                  <a:srgbClr val="7C5DD4"/>
                </a:solidFill>
              </a:rPr>
              <a:t>10  </a:t>
            </a:r>
            <a:r>
              <a:rPr sz="2200" b="1">
                <a:solidFill>
                  <a:srgbClr val="FFFFFF"/>
                </a:solidFill>
              </a:rPr>
              <a:t>CONCLUSION</a:t>
            </a:r>
          </a:p>
        </p:txBody>
      </p:sp>
      <p:sp>
        <p:nvSpPr>
          <p:cNvPr id="5" name="TextBox 4"/>
          <p:cNvSpPr txBox="1"/>
          <p:nvPr/>
        </p:nvSpPr>
        <p:spPr>
          <a:xfrm>
            <a:off x="8229600" y="320040"/>
            <a:ext cx="3474720" cy="365760"/>
          </a:xfrm>
          <a:prstGeom prst="rect">
            <a:avLst/>
          </a:prstGeom>
          <a:noFill/>
        </p:spPr>
        <p:txBody>
          <a:bodyPr wrap="none">
            <a:spAutoFit/>
          </a:bodyPr>
          <a:lstStyle/>
          <a:p>
            <a:pPr algn="r"/>
            <a:r>
              <a:rPr sz="1200">
                <a:solidFill>
                  <a:srgbClr val="7C5DD4"/>
                </a:solidFill>
              </a:rPr>
              <a:t>ANTIC • ENSPY (Polytechnique)</a:t>
            </a:r>
          </a:p>
        </p:txBody>
      </p:sp>
      <p:sp>
        <p:nvSpPr>
          <p:cNvPr id="6" name="Rounded Rectangle 5"/>
          <p:cNvSpPr/>
          <p:nvPr/>
        </p:nvSpPr>
        <p:spPr>
          <a:xfrm>
            <a:off x="548640" y="1463040"/>
            <a:ext cx="530352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463040"/>
            <a:ext cx="5303520" cy="109728"/>
          </a:xfrm>
          <a:prstGeom prst="roundRect">
            <a:avLst/>
          </a:prstGeom>
          <a:solidFill>
            <a:srgbClr val="4C3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4846320" cy="4297680"/>
          </a:xfrm>
          <a:prstGeom prst="rect">
            <a:avLst/>
          </a:prstGeom>
          <a:noFill/>
        </p:spPr>
        <p:txBody>
          <a:bodyPr wrap="square">
            <a:spAutoFit/>
          </a:bodyPr>
          <a:lstStyle/>
          <a:p>
            <a:pPr>
              <a:spcAft>
                <a:spcPts val="1000"/>
              </a:spcAft>
            </a:pPr>
            <a:r>
              <a:rPr sz="1600" b="1">
                <a:solidFill>
                  <a:srgbClr val="4C3194"/>
                </a:solidFill>
              </a:rPr>
              <a:t>Bénéfices Majeurs Apportés à l'Agence</a:t>
            </a:r>
          </a:p>
          <a:p>
            <a:pPr>
              <a:spcAft>
                <a:spcPts val="800"/>
              </a:spcAft>
            </a:pPr>
            <a:r>
              <a:rPr sz="1300" b="1">
                <a:solidFill>
                  <a:srgbClr val="28283C"/>
                </a:solidFill>
              </a:rPr>
              <a:t>Productivité Accrue  :</a:t>
            </a:r>
            <a:r>
              <a:rPr sz="1300">
                <a:solidFill>
                  <a:srgbClr val="28283C"/>
                </a:solidFill>
              </a:rPr>
              <a:t> Suppression intégrale des tâches manuelles de copier-coller et réallocation du temps des ingénieurs vers des tâches d'analyse.</a:t>
            </a:r>
          </a:p>
          <a:p>
            <a:pPr>
              <a:spcAft>
                <a:spcPts val="800"/>
              </a:spcAft>
            </a:pPr>
            <a:r>
              <a:rPr sz="1300" b="1">
                <a:solidFill>
                  <a:srgbClr val="28283C"/>
                </a:solidFill>
              </a:rPr>
              <a:t>Garantie de Souveraineté  :</a:t>
            </a:r>
            <a:r>
              <a:rPr sz="1300">
                <a:solidFill>
                  <a:srgbClr val="28283C"/>
                </a:solidFill>
              </a:rPr>
              <a:t> Hébergement 100% local évitant toute dépendance vis-à-vis d'outils cloud tiers non certifiés.</a:t>
            </a:r>
          </a:p>
          <a:p>
            <a:pPr>
              <a:spcAft>
                <a:spcPts val="800"/>
              </a:spcAft>
            </a:pPr>
            <a:r>
              <a:rPr sz="1300" b="1">
                <a:solidFill>
                  <a:srgbClr val="28283C"/>
                </a:solidFill>
              </a:rPr>
              <a:t>Auditabilité &amp; Sécurité  :</a:t>
            </a:r>
            <a:r>
              <a:rPr sz="1300">
                <a:solidFill>
                  <a:srgbClr val="28283C"/>
                </a:solidFill>
              </a:rPr>
              <a:t> Traçabilité immuable garantissant la traçabilité de chaque document officiel produit au sein de l'ANTIC.</a:t>
            </a:r>
          </a:p>
        </p:txBody>
      </p:sp>
      <p:sp>
        <p:nvSpPr>
          <p:cNvPr id="9" name="Rounded Rectangle 8"/>
          <p:cNvSpPr/>
          <p:nvPr/>
        </p:nvSpPr>
        <p:spPr>
          <a:xfrm>
            <a:off x="6217920" y="1463040"/>
            <a:ext cx="5303520" cy="4754880"/>
          </a:xfrm>
          <a:prstGeom prst="roundRect">
            <a:avLst/>
          </a:prstGeom>
          <a:solidFill>
            <a:srgbClr val="FAF9FF"/>
          </a:solidFill>
          <a:ln w="15240">
            <a:solidFill>
              <a:srgbClr val="DC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463040"/>
            <a:ext cx="5303520" cy="109728"/>
          </a:xfrm>
          <a:prstGeom prst="roundRect">
            <a:avLst/>
          </a:prstGeom>
          <a:solidFill>
            <a:srgbClr val="7C5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91640"/>
            <a:ext cx="4846320" cy="4297680"/>
          </a:xfrm>
          <a:prstGeom prst="rect">
            <a:avLst/>
          </a:prstGeom>
          <a:noFill/>
        </p:spPr>
        <p:txBody>
          <a:bodyPr wrap="square">
            <a:spAutoFit/>
          </a:bodyPr>
          <a:lstStyle/>
          <a:p>
            <a:pPr>
              <a:spcAft>
                <a:spcPts val="1000"/>
              </a:spcAft>
            </a:pPr>
            <a:r>
              <a:rPr sz="1600" b="1">
                <a:solidFill>
                  <a:srgbClr val="7C5DD4"/>
                </a:solidFill>
              </a:rPr>
              <a:t>Perspectives Stratégiques d'Évolution</a:t>
            </a:r>
          </a:p>
          <a:p>
            <a:pPr>
              <a:spcAft>
                <a:spcPts val="800"/>
              </a:spcAft>
            </a:pPr>
            <a:r>
              <a:rPr sz="1300" b="1">
                <a:solidFill>
                  <a:srgbClr val="28283C"/>
                </a:solidFill>
              </a:rPr>
              <a:t>Signature Électronique  :</a:t>
            </a:r>
            <a:r>
              <a:rPr sz="1300">
                <a:solidFill>
                  <a:srgbClr val="28283C"/>
                </a:solidFill>
              </a:rPr>
              <a:t> Module complémentaire d'export direct au format PDF signé cryptographiquement par l'autorité de l'ANTIC.</a:t>
            </a:r>
          </a:p>
          <a:p>
            <a:pPr>
              <a:spcAft>
                <a:spcPts val="800"/>
              </a:spcAft>
            </a:pPr>
            <a:r>
              <a:rPr sz="1300" b="1">
                <a:solidFill>
                  <a:srgbClr val="28283C"/>
                </a:solidFill>
              </a:rPr>
              <a:t>Interconnexion SI  :</a:t>
            </a:r>
            <a:r>
              <a:rPr sz="1300">
                <a:solidFill>
                  <a:srgbClr val="28283C"/>
                </a:solidFill>
              </a:rPr>
              <a:t> Développement d'intercepteurs automatiques avec les bases de données d'audit de l'agence.</a:t>
            </a:r>
          </a:p>
          <a:p>
            <a:pPr>
              <a:spcAft>
                <a:spcPts val="800"/>
              </a:spcAft>
            </a:pPr>
            <a:r>
              <a:rPr sz="1300" b="1">
                <a:solidFill>
                  <a:srgbClr val="28283C"/>
                </a:solidFill>
              </a:rPr>
              <a:t>Synthèse par Intelligence Artificielle  :</a:t>
            </a:r>
            <a:r>
              <a:rPr sz="1300">
                <a:solidFill>
                  <a:srgbClr val="28283C"/>
                </a:solidFill>
              </a:rPr>
              <a:t> Génération automatique de synthèses exécutives introduisant chaque rapport Word.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